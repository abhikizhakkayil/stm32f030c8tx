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3"/>
  </p:notesMasterIdLst>
  <p:sldIdLst>
    <p:sldId id="257" r:id="rId2"/>
    <p:sldId id="256" r:id="rId3"/>
    <p:sldId id="26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</p:sldIdLst>
  <p:sldSz cx="14630400" cy="8229600"/>
  <p:notesSz cx="8229600" cy="14630400"/>
  <p:embeddedFontLst>
    <p:embeddedFont>
      <p:font typeface="DM Sans Semi Bold" panose="020B0604020202020204" charset="0"/>
      <p:regular r:id="rId14"/>
    </p:embeddedFont>
    <p:embeddedFont>
      <p:font typeface="Inter Medium" panose="020B0604020202020204" charset="0"/>
      <p:regular r:id="rId15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FF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69" d="100"/>
          <a:sy n="69" d="100"/>
        </p:scale>
        <p:origin x="677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font" Target="fonts/font2.fntdata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1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35958729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C50F8DB-6C4F-B2EA-6352-0943FC6C79E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CA6CB69-8272-4826-3A36-BD39CB7DA99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53084DF-BBE7-C070-4B80-E19E2DFDCE7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A7757C8-3043-9BAB-2E76-B78A4B0D1A91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50115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5F5F5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2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5F5F5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3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5F5F5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4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5F5F5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5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5F5F5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6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5F5F5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7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5F5F5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8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5F5F5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9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5F5F5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0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5F5F5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4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svg"/><Relationship Id="rId7" Type="http://schemas.openxmlformats.org/officeDocument/2006/relationships/image" Target="../media/image4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3.png"/><Relationship Id="rId5" Type="http://schemas.openxmlformats.org/officeDocument/2006/relationships/image" Target="../media/image9.svg"/><Relationship Id="rId4" Type="http://schemas.openxmlformats.org/officeDocument/2006/relationships/image" Target="../media/image8.sv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11.pn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3.png"/><Relationship Id="rId3" Type="http://schemas.openxmlformats.org/officeDocument/2006/relationships/image" Target="../media/image12.png"/><Relationship Id="rId7" Type="http://schemas.openxmlformats.org/officeDocument/2006/relationships/image" Target="../media/image16.sv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5.svg"/><Relationship Id="rId5" Type="http://schemas.openxmlformats.org/officeDocument/2006/relationships/image" Target="../media/image14.svg"/><Relationship Id="rId4" Type="http://schemas.openxmlformats.org/officeDocument/2006/relationships/image" Target="../media/image13.svg"/><Relationship Id="rId9" Type="http://schemas.openxmlformats.org/officeDocument/2006/relationships/image" Target="../media/image4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8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9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0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1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00" cy="8229600"/>
          </a:xfrm>
          <a:prstGeom prst="rect">
            <a:avLst/>
          </a:prstGeom>
          <a:solidFill>
            <a:srgbClr val="F2EEEE"/>
          </a:solidFill>
          <a:ln/>
        </p:spPr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3348" y="608290"/>
            <a:ext cx="5259586" cy="7012900"/>
          </a:xfrm>
          <a:prstGeom prst="rect">
            <a:avLst/>
          </a:prstGeom>
        </p:spPr>
      </p:pic>
      <p:sp>
        <p:nvSpPr>
          <p:cNvPr id="14" name="Rectangle 13">
            <a:extLst>
              <a:ext uri="{FF2B5EF4-FFF2-40B4-BE49-F238E27FC236}">
                <a16:creationId xmlns:a16="http://schemas.microsoft.com/office/drawing/2014/main" id="{86FB4F3C-D9EC-12C4-417E-1CA966FE37CC}"/>
              </a:ext>
            </a:extLst>
          </p:cNvPr>
          <p:cNvSpPr/>
          <p:nvPr/>
        </p:nvSpPr>
        <p:spPr>
          <a:xfrm>
            <a:off x="12322098" y="7337502"/>
            <a:ext cx="2308302" cy="89209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29847CFD-9274-24CF-E862-9B69FE0665C0}"/>
              </a:ext>
            </a:extLst>
          </p:cNvPr>
          <p:cNvSpPr txBox="1"/>
          <p:nvPr/>
        </p:nvSpPr>
        <p:spPr>
          <a:xfrm>
            <a:off x="5832088" y="2801027"/>
            <a:ext cx="8216613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Development of a Compact STM32 Board Overcoming Conventional Dev Kit Limitations through Integrated Li-Ion Power Management, High-Efficiency DC-DC Conversion, and Optimized 2-Layer PCB Architecture</a:t>
            </a:r>
            <a:endParaRPr lang="en-IN"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44CE19C6-9978-6A42-3921-8A5BD677E6D3}"/>
              </a:ext>
            </a:extLst>
          </p:cNvPr>
          <p:cNvSpPr txBox="1"/>
          <p:nvPr/>
        </p:nvSpPr>
        <p:spPr>
          <a:xfrm>
            <a:off x="11422095" y="6122459"/>
            <a:ext cx="410830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ABHINANDH K</a:t>
            </a:r>
          </a:p>
          <a:p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[ 192312276 ]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CFE3B255-5EA3-18FA-C347-A4C2A8BD641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72835" y="323483"/>
            <a:ext cx="909638" cy="90011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" name="Picture 2">
            <a:extLst>
              <a:ext uri="{FF2B5EF4-FFF2-40B4-BE49-F238E27FC236}">
                <a16:creationId xmlns:a16="http://schemas.microsoft.com/office/drawing/2014/main" id="{E391BE29-DEE3-FAEE-D4A4-BE67760E320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444777" y="323483"/>
            <a:ext cx="712788" cy="9144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86A93DBB-7290-3A9A-476F-55948381A66B}"/>
              </a:ext>
            </a:extLst>
          </p:cNvPr>
          <p:cNvSpPr txBox="1"/>
          <p:nvPr/>
        </p:nvSpPr>
        <p:spPr>
          <a:xfrm>
            <a:off x="2731022" y="401647"/>
            <a:ext cx="9110605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400" b="1" dirty="0">
                <a:solidFill>
                  <a:srgbClr val="0070C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SIMATS ENGINEERING</a:t>
            </a:r>
            <a:br>
              <a:rPr lang="en-US" sz="2400" b="1" dirty="0">
                <a:solidFill>
                  <a:srgbClr val="0070C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r>
              <a:rPr lang="en-US" sz="2400" b="1" dirty="0">
                <a:solidFill>
                  <a:srgbClr val="0070C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Saveetha Institute of Medical and Technical Sciences</a:t>
            </a:r>
            <a:br>
              <a:rPr lang="en-US" sz="2400" b="1" dirty="0">
                <a:solidFill>
                  <a:srgbClr val="0070C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r>
              <a:rPr lang="en-US" sz="2400" b="1" dirty="0">
                <a:solidFill>
                  <a:srgbClr val="0070C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Chennai-602105</a:t>
            </a:r>
            <a:endParaRPr lang="en-IN" sz="2400" dirty="0">
              <a:solidFill>
                <a:srgbClr val="0070C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00" cy="8229600"/>
          </a:xfrm>
          <a:prstGeom prst="rect">
            <a:avLst/>
          </a:prstGeom>
          <a:solidFill>
            <a:srgbClr val="F2EEEE"/>
          </a:solidFill>
          <a:ln/>
        </p:spPr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3348" y="608290"/>
            <a:ext cx="5259586" cy="70129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6280190" y="2510076"/>
            <a:ext cx="7556421" cy="141755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dirty="0">
                <a:solidFill>
                  <a:srgbClr val="030303"/>
                </a:solidFill>
                <a:latin typeface="DM Sans Semi Bold" pitchFamily="34" charset="0"/>
                <a:ea typeface="DM Sans Semi Bold" pitchFamily="34" charset="-122"/>
                <a:cs typeface="DM Sans Semi Bold" pitchFamily="34" charset="-120"/>
              </a:rPr>
              <a:t>The Problem with Conventional Dev Kits</a:t>
            </a:r>
            <a:endParaRPr lang="en-US" sz="4450" dirty="0"/>
          </a:p>
        </p:txBody>
      </p:sp>
      <p:sp>
        <p:nvSpPr>
          <p:cNvPr id="5" name="Text 2"/>
          <p:cNvSpPr/>
          <p:nvPr/>
        </p:nvSpPr>
        <p:spPr>
          <a:xfrm>
            <a:off x="6280190" y="4267795"/>
            <a:ext cx="7556421" cy="14516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STM32 Nucleo and Discovery boards are excellent for prototyping — but they fall short when it's time to ship a product. Bulky form factors, external power modules, and no battery integration make them impractical for real-world deployment.</a:t>
            </a:r>
            <a:endParaRPr lang="en-US" sz="1750" dirty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5DA8272F-1A58-DDD2-C5D3-53B34CF5E2BE}"/>
              </a:ext>
            </a:extLst>
          </p:cNvPr>
          <p:cNvSpPr/>
          <p:nvPr/>
        </p:nvSpPr>
        <p:spPr>
          <a:xfrm>
            <a:off x="12322098" y="7337502"/>
            <a:ext cx="2308302" cy="89209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6F600DEA-9BF4-3339-AA49-5527B1552EC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35411" y="158233"/>
            <a:ext cx="909638" cy="90011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8" name="Picture 2">
            <a:extLst>
              <a:ext uri="{FF2B5EF4-FFF2-40B4-BE49-F238E27FC236}">
                <a16:creationId xmlns:a16="http://schemas.microsoft.com/office/drawing/2014/main" id="{172B43EF-2651-A223-84FE-CF4754E8F8C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480217" y="143946"/>
            <a:ext cx="712788" cy="9144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7E8D81F-E62D-40BE-B905-9DE45BCE965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FB9B5C1B-A010-5780-F32A-C714F4F4A28C}"/>
              </a:ext>
            </a:extLst>
          </p:cNvPr>
          <p:cNvSpPr/>
          <p:nvPr/>
        </p:nvSpPr>
        <p:spPr>
          <a:xfrm>
            <a:off x="0" y="0"/>
            <a:ext cx="5486400" cy="8229600"/>
          </a:xfrm>
          <a:prstGeom prst="rect">
            <a:avLst/>
          </a:prstGeom>
          <a:solidFill>
            <a:srgbClr val="F2EEEE"/>
          </a:solidFill>
          <a:ln/>
        </p:spPr>
      </p:sp>
      <p:pic>
        <p:nvPicPr>
          <p:cNvPr id="3" name="Image 0" descr="preencoded.png">
            <a:extLst>
              <a:ext uri="{FF2B5EF4-FFF2-40B4-BE49-F238E27FC236}">
                <a16:creationId xmlns:a16="http://schemas.microsoft.com/office/drawing/2014/main" id="{6FFA4FFE-FA2B-D2FB-75AF-34662C3D7F5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3348" y="608290"/>
            <a:ext cx="5259586" cy="7012900"/>
          </a:xfrm>
          <a:prstGeom prst="rect">
            <a:avLst/>
          </a:prstGeom>
        </p:spPr>
      </p:pic>
      <p:sp>
        <p:nvSpPr>
          <p:cNvPr id="4" name="Text 1">
            <a:extLst>
              <a:ext uri="{FF2B5EF4-FFF2-40B4-BE49-F238E27FC236}">
                <a16:creationId xmlns:a16="http://schemas.microsoft.com/office/drawing/2014/main" id="{9689B16B-816E-D315-20E2-0A289D185BE9}"/>
              </a:ext>
            </a:extLst>
          </p:cNvPr>
          <p:cNvSpPr/>
          <p:nvPr/>
        </p:nvSpPr>
        <p:spPr>
          <a:xfrm>
            <a:off x="6280190" y="1266944"/>
            <a:ext cx="6527125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dirty="0">
                <a:solidFill>
                  <a:srgbClr val="030303"/>
                </a:solidFill>
                <a:latin typeface="DM Sans Semi Bold" pitchFamily="34" charset="0"/>
                <a:ea typeface="DM Sans Semi Bold" pitchFamily="34" charset="-122"/>
                <a:cs typeface="DM Sans Semi Bold" pitchFamily="34" charset="-120"/>
              </a:rPr>
              <a:t>Why This Custom Board</a:t>
            </a:r>
            <a:endParaRPr lang="en-US" sz="4450" dirty="0"/>
          </a:p>
        </p:txBody>
      </p:sp>
      <p:sp>
        <p:nvSpPr>
          <p:cNvPr id="5" name="Shape 2">
            <a:extLst>
              <a:ext uri="{FF2B5EF4-FFF2-40B4-BE49-F238E27FC236}">
                <a16:creationId xmlns:a16="http://schemas.microsoft.com/office/drawing/2014/main" id="{46B4053D-80C6-7FB6-3EF4-7B4F767B9ED4}"/>
              </a:ext>
            </a:extLst>
          </p:cNvPr>
          <p:cNvSpPr/>
          <p:nvPr/>
        </p:nvSpPr>
        <p:spPr>
          <a:xfrm>
            <a:off x="6280190" y="2315885"/>
            <a:ext cx="3664744" cy="2749987"/>
          </a:xfrm>
          <a:prstGeom prst="roundRect">
            <a:avLst>
              <a:gd name="adj" fmla="val 1237"/>
            </a:avLst>
          </a:prstGeom>
          <a:solidFill>
            <a:srgbClr val="F2EEEE"/>
          </a:solidFill>
          <a:ln/>
        </p:spPr>
      </p:sp>
      <p:sp>
        <p:nvSpPr>
          <p:cNvPr id="6" name="Text 3">
            <a:extLst>
              <a:ext uri="{FF2B5EF4-FFF2-40B4-BE49-F238E27FC236}">
                <a16:creationId xmlns:a16="http://schemas.microsoft.com/office/drawing/2014/main" id="{19F889DB-9488-6FA7-5CF4-B23D81D94E1D}"/>
              </a:ext>
            </a:extLst>
          </p:cNvPr>
          <p:cNvSpPr/>
          <p:nvPr/>
        </p:nvSpPr>
        <p:spPr>
          <a:xfrm>
            <a:off x="6507004" y="2542699"/>
            <a:ext cx="3211116" cy="7086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464646"/>
                </a:solidFill>
                <a:latin typeface="DM Sans Semi Bold" pitchFamily="34" charset="0"/>
                <a:ea typeface="DM Sans Semi Bold" pitchFamily="34" charset="-122"/>
                <a:cs typeface="DM Sans Semi Bold" pitchFamily="34" charset="-120"/>
              </a:rPr>
              <a:t>Integrated System Design</a:t>
            </a:r>
            <a:endParaRPr lang="en-US" sz="2200" dirty="0"/>
          </a:p>
        </p:txBody>
      </p:sp>
      <p:sp>
        <p:nvSpPr>
          <p:cNvPr id="7" name="Text 4">
            <a:extLst>
              <a:ext uri="{FF2B5EF4-FFF2-40B4-BE49-F238E27FC236}">
                <a16:creationId xmlns:a16="http://schemas.microsoft.com/office/drawing/2014/main" id="{B2A03BCD-A67A-0097-94FB-E53657FBCA97}"/>
              </a:ext>
            </a:extLst>
          </p:cNvPr>
          <p:cNvSpPr/>
          <p:nvPr/>
        </p:nvSpPr>
        <p:spPr>
          <a:xfrm>
            <a:off x="6507004" y="3387447"/>
            <a:ext cx="3211116" cy="14516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Power management, battery charging, and MCU all on a single PCB — no external modules required.</a:t>
            </a:r>
            <a:endParaRPr lang="en-US" sz="1750" dirty="0"/>
          </a:p>
        </p:txBody>
      </p:sp>
      <p:sp>
        <p:nvSpPr>
          <p:cNvPr id="8" name="Shape 5">
            <a:extLst>
              <a:ext uri="{FF2B5EF4-FFF2-40B4-BE49-F238E27FC236}">
                <a16:creationId xmlns:a16="http://schemas.microsoft.com/office/drawing/2014/main" id="{DE84EEE7-9BE1-E1B1-78D3-F70858029A5F}"/>
              </a:ext>
            </a:extLst>
          </p:cNvPr>
          <p:cNvSpPr/>
          <p:nvPr/>
        </p:nvSpPr>
        <p:spPr>
          <a:xfrm>
            <a:off x="10171748" y="2315885"/>
            <a:ext cx="3664863" cy="2749987"/>
          </a:xfrm>
          <a:prstGeom prst="roundRect">
            <a:avLst>
              <a:gd name="adj" fmla="val 1237"/>
            </a:avLst>
          </a:prstGeom>
          <a:solidFill>
            <a:srgbClr val="F2EEEE"/>
          </a:solidFill>
          <a:ln/>
        </p:spPr>
      </p:sp>
      <p:sp>
        <p:nvSpPr>
          <p:cNvPr id="9" name="Text 6">
            <a:extLst>
              <a:ext uri="{FF2B5EF4-FFF2-40B4-BE49-F238E27FC236}">
                <a16:creationId xmlns:a16="http://schemas.microsoft.com/office/drawing/2014/main" id="{82CF2866-A72B-7D1E-24EA-45DF7F8CE18A}"/>
              </a:ext>
            </a:extLst>
          </p:cNvPr>
          <p:cNvSpPr/>
          <p:nvPr/>
        </p:nvSpPr>
        <p:spPr>
          <a:xfrm>
            <a:off x="10398562" y="2542699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464646"/>
                </a:solidFill>
                <a:latin typeface="DM Sans Semi Bold" pitchFamily="34" charset="0"/>
                <a:ea typeface="DM Sans Semi Bold" pitchFamily="34" charset="-122"/>
                <a:cs typeface="DM Sans Semi Bold" pitchFamily="34" charset="-120"/>
              </a:rPr>
              <a:t>No External Modules</a:t>
            </a:r>
            <a:endParaRPr lang="en-US" sz="2200" dirty="0"/>
          </a:p>
        </p:txBody>
      </p:sp>
      <p:sp>
        <p:nvSpPr>
          <p:cNvPr id="10" name="Text 7">
            <a:extLst>
              <a:ext uri="{FF2B5EF4-FFF2-40B4-BE49-F238E27FC236}">
                <a16:creationId xmlns:a16="http://schemas.microsoft.com/office/drawing/2014/main" id="{18C7B68B-AB2E-1A72-C2F8-43E82527AB17}"/>
              </a:ext>
            </a:extLst>
          </p:cNvPr>
          <p:cNvSpPr/>
          <p:nvPr/>
        </p:nvSpPr>
        <p:spPr>
          <a:xfrm>
            <a:off x="10398562" y="3033117"/>
            <a:ext cx="3211235" cy="1088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Eliminates the TP4056, boost converters, and wiring that clutter dev kit setups.</a:t>
            </a:r>
            <a:endParaRPr lang="en-US" sz="1750" dirty="0"/>
          </a:p>
        </p:txBody>
      </p:sp>
      <p:sp>
        <p:nvSpPr>
          <p:cNvPr id="11" name="Shape 8">
            <a:extLst>
              <a:ext uri="{FF2B5EF4-FFF2-40B4-BE49-F238E27FC236}">
                <a16:creationId xmlns:a16="http://schemas.microsoft.com/office/drawing/2014/main" id="{E593BC95-6D68-4ADA-E812-232E8FA9208E}"/>
              </a:ext>
            </a:extLst>
          </p:cNvPr>
          <p:cNvSpPr/>
          <p:nvPr/>
        </p:nvSpPr>
        <p:spPr>
          <a:xfrm>
            <a:off x="6280190" y="5292685"/>
            <a:ext cx="7556421" cy="1669852"/>
          </a:xfrm>
          <a:prstGeom prst="roundRect">
            <a:avLst>
              <a:gd name="adj" fmla="val 2038"/>
            </a:avLst>
          </a:prstGeom>
          <a:solidFill>
            <a:srgbClr val="F2EEEE"/>
          </a:solidFill>
          <a:ln/>
        </p:spPr>
      </p:sp>
      <p:sp>
        <p:nvSpPr>
          <p:cNvPr id="12" name="Text 9">
            <a:extLst>
              <a:ext uri="{FF2B5EF4-FFF2-40B4-BE49-F238E27FC236}">
                <a16:creationId xmlns:a16="http://schemas.microsoft.com/office/drawing/2014/main" id="{0DDE6E7D-FDC4-5F4E-EEA6-D7DE4332C5EA}"/>
              </a:ext>
            </a:extLst>
          </p:cNvPr>
          <p:cNvSpPr/>
          <p:nvPr/>
        </p:nvSpPr>
        <p:spPr>
          <a:xfrm>
            <a:off x="6507004" y="5519499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464646"/>
                </a:solidFill>
                <a:latin typeface="DM Sans Semi Bold" pitchFamily="34" charset="0"/>
                <a:ea typeface="DM Sans Semi Bold" pitchFamily="34" charset="-122"/>
                <a:cs typeface="DM Sans Semi Bold" pitchFamily="34" charset="-120"/>
              </a:rPr>
              <a:t>Real-World Ready</a:t>
            </a:r>
            <a:endParaRPr lang="en-US" sz="2200" dirty="0"/>
          </a:p>
        </p:txBody>
      </p:sp>
      <p:sp>
        <p:nvSpPr>
          <p:cNvPr id="13" name="Text 10">
            <a:extLst>
              <a:ext uri="{FF2B5EF4-FFF2-40B4-BE49-F238E27FC236}">
                <a16:creationId xmlns:a16="http://schemas.microsoft.com/office/drawing/2014/main" id="{C592374A-F687-C0E2-BFE1-758CC673E8C2}"/>
              </a:ext>
            </a:extLst>
          </p:cNvPr>
          <p:cNvSpPr/>
          <p:nvPr/>
        </p:nvSpPr>
        <p:spPr>
          <a:xfrm>
            <a:off x="6507004" y="6009918"/>
            <a:ext cx="7102793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Designed for deployment, not just evaluation — compact, efficient, and self-contained.</a:t>
            </a:r>
            <a:endParaRPr lang="en-US" sz="1750" dirty="0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F68BC1D0-197F-2781-0F4C-968C347EBED1}"/>
              </a:ext>
            </a:extLst>
          </p:cNvPr>
          <p:cNvSpPr/>
          <p:nvPr/>
        </p:nvSpPr>
        <p:spPr>
          <a:xfrm>
            <a:off x="12322098" y="7337502"/>
            <a:ext cx="2308302" cy="89209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0E256DBC-9D6A-7328-9D0F-8F158858F9C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79655" y="307305"/>
            <a:ext cx="909638" cy="90011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6" name="Picture 2">
            <a:extLst>
              <a:ext uri="{FF2B5EF4-FFF2-40B4-BE49-F238E27FC236}">
                <a16:creationId xmlns:a16="http://schemas.microsoft.com/office/drawing/2014/main" id="{E178CA6F-9001-0AF5-ABAA-EA45ADFEFAF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637957" y="128270"/>
            <a:ext cx="712788" cy="9144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34014632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860108"/>
            <a:ext cx="7459147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dirty="0">
                <a:solidFill>
                  <a:srgbClr val="030303"/>
                </a:solidFill>
                <a:latin typeface="DM Sans Semi Bold" pitchFamily="34" charset="0"/>
                <a:ea typeface="DM Sans Semi Bold" pitchFamily="34" charset="-122"/>
                <a:cs typeface="DM Sans Semi Bold" pitchFamily="34" charset="-120"/>
              </a:rPr>
              <a:t>Key Features &amp; Advantages</a:t>
            </a:r>
            <a:endParaRPr lang="en-US" sz="445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3790" y="2536627"/>
            <a:ext cx="4205168" cy="4205168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5559981" y="2164199"/>
            <a:ext cx="4028599" cy="2538770"/>
          </a:xfrm>
          <a:prstGeom prst="roundRect">
            <a:avLst>
              <a:gd name="adj" fmla="val 5763"/>
            </a:avLst>
          </a:prstGeom>
          <a:solidFill>
            <a:srgbClr val="FFFFFF"/>
          </a:solidFill>
          <a:ln w="30480">
            <a:solidFill>
              <a:srgbClr val="D8D4D4"/>
            </a:solidFill>
            <a:prstDash val="solid"/>
          </a:ln>
        </p:spPr>
      </p:sp>
      <p:sp>
        <p:nvSpPr>
          <p:cNvPr id="5" name="Shape 2"/>
          <p:cNvSpPr/>
          <p:nvPr/>
        </p:nvSpPr>
        <p:spPr>
          <a:xfrm>
            <a:off x="5529501" y="2164199"/>
            <a:ext cx="121920" cy="2538770"/>
          </a:xfrm>
          <a:prstGeom prst="roundRect">
            <a:avLst>
              <a:gd name="adj" fmla="val 27907"/>
            </a:avLst>
          </a:prstGeom>
          <a:solidFill>
            <a:srgbClr val="1C9770"/>
          </a:solidFill>
          <a:ln/>
        </p:spPr>
      </p:sp>
      <p:sp>
        <p:nvSpPr>
          <p:cNvPr id="6" name="Text 3"/>
          <p:cNvSpPr/>
          <p:nvPr/>
        </p:nvSpPr>
        <p:spPr>
          <a:xfrm>
            <a:off x="5908715" y="2421493"/>
            <a:ext cx="3075742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464646"/>
                </a:solidFill>
                <a:latin typeface="DM Sans Semi Bold" pitchFamily="34" charset="0"/>
                <a:ea typeface="DM Sans Semi Bold" pitchFamily="34" charset="-122"/>
                <a:cs typeface="DM Sans Semi Bold" pitchFamily="34" charset="-120"/>
              </a:rPr>
              <a:t>Li-Ion Battery Support</a:t>
            </a:r>
            <a:endParaRPr lang="en-US" sz="2200" dirty="0"/>
          </a:p>
        </p:txBody>
      </p:sp>
      <p:sp>
        <p:nvSpPr>
          <p:cNvPr id="7" name="Text 4"/>
          <p:cNvSpPr/>
          <p:nvPr/>
        </p:nvSpPr>
        <p:spPr>
          <a:xfrm>
            <a:off x="5908715" y="3002637"/>
            <a:ext cx="3422571" cy="1088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Direct battery input with integrated charging circuitry — no separate charger module.</a:t>
            </a:r>
            <a:endParaRPr lang="en-US" sz="1750" dirty="0"/>
          </a:p>
        </p:txBody>
      </p:sp>
      <p:sp>
        <p:nvSpPr>
          <p:cNvPr id="8" name="Shape 5"/>
          <p:cNvSpPr/>
          <p:nvPr/>
        </p:nvSpPr>
        <p:spPr>
          <a:xfrm>
            <a:off x="9815393" y="2164199"/>
            <a:ext cx="4028718" cy="2538770"/>
          </a:xfrm>
          <a:prstGeom prst="roundRect">
            <a:avLst>
              <a:gd name="adj" fmla="val 5763"/>
            </a:avLst>
          </a:prstGeom>
          <a:solidFill>
            <a:srgbClr val="FFFFFF"/>
          </a:solidFill>
          <a:ln w="30480">
            <a:solidFill>
              <a:srgbClr val="D8D4D4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9784913" y="2164199"/>
            <a:ext cx="121920" cy="2538770"/>
          </a:xfrm>
          <a:prstGeom prst="roundRect">
            <a:avLst>
              <a:gd name="adj" fmla="val 27907"/>
            </a:avLst>
          </a:prstGeom>
          <a:solidFill>
            <a:srgbClr val="1C9770"/>
          </a:solidFill>
          <a:ln/>
        </p:spPr>
      </p:sp>
      <p:sp>
        <p:nvSpPr>
          <p:cNvPr id="10" name="Text 7"/>
          <p:cNvSpPr/>
          <p:nvPr/>
        </p:nvSpPr>
        <p:spPr>
          <a:xfrm>
            <a:off x="10164128" y="2421493"/>
            <a:ext cx="3422690" cy="7086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464646"/>
                </a:solidFill>
                <a:latin typeface="DM Sans Semi Bold" pitchFamily="34" charset="0"/>
                <a:ea typeface="DM Sans Semi Bold" pitchFamily="34" charset="-122"/>
                <a:cs typeface="DM Sans Semi Bold" pitchFamily="34" charset="-120"/>
              </a:rPr>
              <a:t>DC-DC Power Conversion</a:t>
            </a:r>
            <a:endParaRPr lang="en-US" sz="2200" dirty="0"/>
          </a:p>
        </p:txBody>
      </p:sp>
      <p:sp>
        <p:nvSpPr>
          <p:cNvPr id="11" name="Text 8"/>
          <p:cNvSpPr/>
          <p:nvPr/>
        </p:nvSpPr>
        <p:spPr>
          <a:xfrm>
            <a:off x="10164128" y="3356967"/>
            <a:ext cx="3422690" cy="1088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Efficient voltage regulation from battery to MCU supply rail.</a:t>
            </a:r>
            <a:endParaRPr lang="en-US" sz="1750" dirty="0"/>
          </a:p>
        </p:txBody>
      </p:sp>
      <p:sp>
        <p:nvSpPr>
          <p:cNvPr id="12" name="Shape 9"/>
          <p:cNvSpPr/>
          <p:nvPr/>
        </p:nvSpPr>
        <p:spPr>
          <a:xfrm>
            <a:off x="5559981" y="4929783"/>
            <a:ext cx="4028599" cy="2184440"/>
          </a:xfrm>
          <a:prstGeom prst="roundRect">
            <a:avLst>
              <a:gd name="adj" fmla="val 6698"/>
            </a:avLst>
          </a:prstGeom>
          <a:solidFill>
            <a:srgbClr val="FFFFFF"/>
          </a:solidFill>
          <a:ln w="30480">
            <a:solidFill>
              <a:srgbClr val="D8D4D4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5529501" y="4929783"/>
            <a:ext cx="121920" cy="2184440"/>
          </a:xfrm>
          <a:prstGeom prst="roundRect">
            <a:avLst>
              <a:gd name="adj" fmla="val 27907"/>
            </a:avLst>
          </a:prstGeom>
          <a:solidFill>
            <a:srgbClr val="1C9770"/>
          </a:solidFill>
          <a:ln/>
        </p:spPr>
      </p:sp>
      <p:sp>
        <p:nvSpPr>
          <p:cNvPr id="14" name="Text 11"/>
          <p:cNvSpPr/>
          <p:nvPr/>
        </p:nvSpPr>
        <p:spPr>
          <a:xfrm>
            <a:off x="5908715" y="5187077"/>
            <a:ext cx="303978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464646"/>
                </a:solidFill>
                <a:latin typeface="DM Sans Semi Bold" pitchFamily="34" charset="0"/>
                <a:ea typeface="DM Sans Semi Bold" pitchFamily="34" charset="-122"/>
                <a:cs typeface="DM Sans Semi Bold" pitchFamily="34" charset="-120"/>
              </a:rPr>
              <a:t>Compact 2-Layer PCB</a:t>
            </a:r>
            <a:endParaRPr lang="en-US" sz="2200" dirty="0"/>
          </a:p>
        </p:txBody>
      </p:sp>
      <p:sp>
        <p:nvSpPr>
          <p:cNvPr id="15" name="Text 12"/>
          <p:cNvSpPr/>
          <p:nvPr/>
        </p:nvSpPr>
        <p:spPr>
          <a:xfrm>
            <a:off x="5908715" y="5768221"/>
            <a:ext cx="3422571" cy="1088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Minimal board footprint suitable for space-constrained enclosures.</a:t>
            </a:r>
            <a:endParaRPr lang="en-US" sz="1750" dirty="0"/>
          </a:p>
        </p:txBody>
      </p:sp>
      <p:sp>
        <p:nvSpPr>
          <p:cNvPr id="16" name="Shape 13"/>
          <p:cNvSpPr/>
          <p:nvPr/>
        </p:nvSpPr>
        <p:spPr>
          <a:xfrm>
            <a:off x="9815393" y="4929783"/>
            <a:ext cx="4028718" cy="2184440"/>
          </a:xfrm>
          <a:prstGeom prst="roundRect">
            <a:avLst>
              <a:gd name="adj" fmla="val 6698"/>
            </a:avLst>
          </a:prstGeom>
          <a:solidFill>
            <a:srgbClr val="FFFFFF"/>
          </a:solidFill>
          <a:ln w="30480">
            <a:solidFill>
              <a:srgbClr val="D8D4D4"/>
            </a:solidFill>
            <a:prstDash val="solid"/>
          </a:ln>
        </p:spPr>
      </p:sp>
      <p:sp>
        <p:nvSpPr>
          <p:cNvPr id="17" name="Shape 14"/>
          <p:cNvSpPr/>
          <p:nvPr/>
        </p:nvSpPr>
        <p:spPr>
          <a:xfrm>
            <a:off x="9784913" y="4929783"/>
            <a:ext cx="121920" cy="2184440"/>
          </a:xfrm>
          <a:prstGeom prst="roundRect">
            <a:avLst>
              <a:gd name="adj" fmla="val 27907"/>
            </a:avLst>
          </a:prstGeom>
          <a:solidFill>
            <a:srgbClr val="1C9770"/>
          </a:solidFill>
          <a:ln/>
        </p:spPr>
      </p:sp>
      <p:sp>
        <p:nvSpPr>
          <p:cNvPr id="18" name="Text 15"/>
          <p:cNvSpPr/>
          <p:nvPr/>
        </p:nvSpPr>
        <p:spPr>
          <a:xfrm>
            <a:off x="10164128" y="5187077"/>
            <a:ext cx="3378398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464646"/>
                </a:solidFill>
                <a:latin typeface="DM Sans Semi Bold" pitchFamily="34" charset="0"/>
                <a:ea typeface="DM Sans Semi Bold" pitchFamily="34" charset="-122"/>
                <a:cs typeface="DM Sans Semi Bold" pitchFamily="34" charset="-120"/>
              </a:rPr>
              <a:t>USB + SWD Programming</a:t>
            </a:r>
            <a:endParaRPr lang="en-US" sz="2200" dirty="0"/>
          </a:p>
        </p:txBody>
      </p:sp>
      <p:sp>
        <p:nvSpPr>
          <p:cNvPr id="19" name="Text 16"/>
          <p:cNvSpPr/>
          <p:nvPr/>
        </p:nvSpPr>
        <p:spPr>
          <a:xfrm>
            <a:off x="10164128" y="5768221"/>
            <a:ext cx="3422690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Standard debug interface — no proprietary hardware needed.</a:t>
            </a:r>
            <a:endParaRPr lang="en-US" sz="1750" dirty="0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DBE3D315-435F-B3D9-393B-AA784EABE1AF}"/>
              </a:ext>
            </a:extLst>
          </p:cNvPr>
          <p:cNvSpPr/>
          <p:nvPr/>
        </p:nvSpPr>
        <p:spPr>
          <a:xfrm>
            <a:off x="12322098" y="7337502"/>
            <a:ext cx="2308302" cy="89209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pic>
        <p:nvPicPr>
          <p:cNvPr id="21" name="Picture 20">
            <a:extLst>
              <a:ext uri="{FF2B5EF4-FFF2-40B4-BE49-F238E27FC236}">
                <a16:creationId xmlns:a16="http://schemas.microsoft.com/office/drawing/2014/main" id="{4A39928D-0283-5E4B-8100-6D741A02A2D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8933" y="111610"/>
            <a:ext cx="909638" cy="90011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2" name="Picture 2">
            <a:extLst>
              <a:ext uri="{FF2B5EF4-FFF2-40B4-BE49-F238E27FC236}">
                <a16:creationId xmlns:a16="http://schemas.microsoft.com/office/drawing/2014/main" id="{DF2C47D4-1B7B-4311-A049-521C6346813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749470" y="200977"/>
            <a:ext cx="712788" cy="9144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1828324"/>
            <a:ext cx="6242447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dirty="0">
                <a:solidFill>
                  <a:srgbClr val="030303"/>
                </a:solidFill>
                <a:latin typeface="DM Sans Semi Bold" pitchFamily="34" charset="0"/>
                <a:ea typeface="DM Sans Semi Bold" pitchFamily="34" charset="-122"/>
                <a:cs typeface="DM Sans Semi Bold" pitchFamily="34" charset="-120"/>
              </a:rPr>
              <a:t>Trade-offs to Consider</a:t>
            </a:r>
            <a:endParaRPr lang="en-US" sz="4450" dirty="0"/>
          </a:p>
        </p:txBody>
      </p:sp>
      <p:sp>
        <p:nvSpPr>
          <p:cNvPr id="3" name="Text 1"/>
          <p:cNvSpPr/>
          <p:nvPr/>
        </p:nvSpPr>
        <p:spPr>
          <a:xfrm>
            <a:off x="793790" y="2990731"/>
            <a:ext cx="13042821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Every design decision involves compromise. Understanding the limitations helps set realistic expectations for this board's use cases.</a:t>
            </a:r>
            <a:endParaRPr lang="en-US" sz="175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93790" y="3971687"/>
            <a:ext cx="566976" cy="566976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793790" y="4822150"/>
            <a:ext cx="3640812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464646"/>
                </a:solidFill>
                <a:latin typeface="DM Sans Semi Bold" pitchFamily="34" charset="0"/>
                <a:ea typeface="DM Sans Semi Bold" pitchFamily="34" charset="-122"/>
                <a:cs typeface="DM Sans Semi Bold" pitchFamily="34" charset="-120"/>
              </a:rPr>
              <a:t>Less Flexible Than Dev Kits</a:t>
            </a:r>
            <a:endParaRPr lang="en-US" sz="2200" dirty="0"/>
          </a:p>
        </p:txBody>
      </p:sp>
      <p:sp>
        <p:nvSpPr>
          <p:cNvPr id="6" name="Text 3"/>
          <p:cNvSpPr/>
          <p:nvPr/>
        </p:nvSpPr>
        <p:spPr>
          <a:xfrm>
            <a:off x="793790" y="5312569"/>
            <a:ext cx="4158615" cy="1088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Fixed pinout and power architecture — not designed for rapid peripheral swapping.</a:t>
            </a:r>
            <a:endParaRPr lang="en-US" sz="1750" dirty="0"/>
          </a:p>
        </p:txBody>
      </p:sp>
      <p:pic>
        <p:nvPicPr>
          <p:cNvPr id="7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235893" y="3971687"/>
            <a:ext cx="566976" cy="566976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5235893" y="4822150"/>
            <a:ext cx="4144328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464646"/>
                </a:solidFill>
                <a:latin typeface="DM Sans Semi Bold" pitchFamily="34" charset="0"/>
                <a:ea typeface="DM Sans Semi Bold" pitchFamily="34" charset="-122"/>
                <a:cs typeface="DM Sans Semi Bold" pitchFamily="34" charset="-120"/>
              </a:rPr>
              <a:t>Hardware Debugging is Harder</a:t>
            </a:r>
            <a:endParaRPr lang="en-US" sz="2200" dirty="0"/>
          </a:p>
        </p:txBody>
      </p:sp>
      <p:sp>
        <p:nvSpPr>
          <p:cNvPr id="9" name="Text 5"/>
          <p:cNvSpPr/>
          <p:nvPr/>
        </p:nvSpPr>
        <p:spPr>
          <a:xfrm>
            <a:off x="5235893" y="5312569"/>
            <a:ext cx="4158615" cy="1088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Limited test points and a denser layout make probe access more challenging.</a:t>
            </a:r>
            <a:endParaRPr lang="en-US" sz="1750" dirty="0"/>
          </a:p>
        </p:txBody>
      </p:sp>
      <p:pic>
        <p:nvPicPr>
          <p:cNvPr id="10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9677995" y="3971687"/>
            <a:ext cx="566976" cy="566976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9677995" y="4822150"/>
            <a:ext cx="385250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464646"/>
                </a:solidFill>
                <a:latin typeface="DM Sans Semi Bold" pitchFamily="34" charset="0"/>
                <a:ea typeface="DM Sans Semi Bold" pitchFamily="34" charset="-122"/>
                <a:cs typeface="DM Sans Semi Bold" pitchFamily="34" charset="-120"/>
              </a:rPr>
              <a:t>2-Layer Routing Constraints</a:t>
            </a:r>
            <a:endParaRPr lang="en-US" sz="2200" dirty="0"/>
          </a:p>
        </p:txBody>
      </p:sp>
      <p:sp>
        <p:nvSpPr>
          <p:cNvPr id="12" name="Text 7"/>
          <p:cNvSpPr/>
          <p:nvPr/>
        </p:nvSpPr>
        <p:spPr>
          <a:xfrm>
            <a:off x="9677995" y="5312569"/>
            <a:ext cx="4158615" cy="1088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Power and signal routing must be carefully managed without a dedicated ground plane.</a:t>
            </a:r>
            <a:endParaRPr lang="en-US" sz="1750" dirty="0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B0B66D86-FC40-6F6C-C057-CA1EA40DD440}"/>
              </a:ext>
            </a:extLst>
          </p:cNvPr>
          <p:cNvSpPr/>
          <p:nvPr/>
        </p:nvSpPr>
        <p:spPr>
          <a:xfrm>
            <a:off x="12322098" y="7337502"/>
            <a:ext cx="2308302" cy="89209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5676CBC2-8309-D11C-C24A-F8671185CBB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38971" y="232291"/>
            <a:ext cx="909638" cy="90011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5" name="Picture 2">
            <a:extLst>
              <a:ext uri="{FF2B5EF4-FFF2-40B4-BE49-F238E27FC236}">
                <a16:creationId xmlns:a16="http://schemas.microsoft.com/office/drawing/2014/main" id="{98C5B3D4-1EAE-88D8-9E0C-064229C21C3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578641" y="218004"/>
            <a:ext cx="712788" cy="9144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9948" y="1191310"/>
            <a:ext cx="4370070" cy="45398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550"/>
              </a:lnSpc>
              <a:buNone/>
            </a:pPr>
            <a:r>
              <a:rPr lang="en-US" sz="2850" dirty="0">
                <a:solidFill>
                  <a:srgbClr val="030303"/>
                </a:solidFill>
                <a:latin typeface="DM Sans Semi Bold" pitchFamily="34" charset="0"/>
                <a:ea typeface="DM Sans Semi Bold" pitchFamily="34" charset="-122"/>
                <a:cs typeface="DM Sans Semi Bold" pitchFamily="34" charset="-120"/>
              </a:rPr>
              <a:t>Dev Kit vs. Custom Board</a:t>
            </a:r>
            <a:endParaRPr lang="en-US" sz="2850" dirty="0"/>
          </a:p>
        </p:txBody>
      </p:sp>
      <p:sp>
        <p:nvSpPr>
          <p:cNvPr id="3" name="Text 1"/>
          <p:cNvSpPr/>
          <p:nvPr/>
        </p:nvSpPr>
        <p:spPr>
          <a:xfrm>
            <a:off x="508516" y="4126587"/>
            <a:ext cx="6629519" cy="57185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1100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When evaluating hardware for a product, the differences between a dev kit and a custom board become critical. This comparison highlights where each approach wins — and where it falls short.</a:t>
            </a:r>
            <a:endParaRPr lang="en-US" sz="110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99985" y="1097756"/>
            <a:ext cx="6629519" cy="6629519"/>
          </a:xfrm>
          <a:prstGeom prst="rect">
            <a:avLst/>
          </a:prstGeom>
        </p:spPr>
      </p:pic>
      <p:pic>
        <p:nvPicPr>
          <p:cNvPr id="5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499985" y="1097756"/>
            <a:ext cx="6629519" cy="6629519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2A5EC936-FFE6-7D3A-7B42-8E04AC772808}"/>
              </a:ext>
            </a:extLst>
          </p:cNvPr>
          <p:cNvSpPr/>
          <p:nvPr/>
        </p:nvSpPr>
        <p:spPr>
          <a:xfrm>
            <a:off x="12322098" y="7337502"/>
            <a:ext cx="2308302" cy="89209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1FDB1328-05FA-2B53-8646-F7497B8CBAD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5129" y="89308"/>
            <a:ext cx="909638" cy="90011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8" name="Picture 2">
            <a:extLst>
              <a:ext uri="{FF2B5EF4-FFF2-40B4-BE49-F238E27FC236}">
                <a16:creationId xmlns:a16="http://schemas.microsoft.com/office/drawing/2014/main" id="{0F2A7A5D-6A60-240D-5F69-3727810081B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702483" y="45125"/>
            <a:ext cx="712788" cy="9144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00" cy="8229600"/>
          </a:xfrm>
          <a:prstGeom prst="rect">
            <a:avLst/>
          </a:prstGeom>
          <a:solidFill>
            <a:srgbClr val="F2EEEE"/>
          </a:solidFill>
          <a:ln/>
        </p:spPr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296" y="562927"/>
            <a:ext cx="5327809" cy="7103745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6280190" y="745927"/>
            <a:ext cx="3969425" cy="49613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900"/>
              </a:lnSpc>
              <a:buNone/>
            </a:pPr>
            <a:r>
              <a:rPr lang="en-US" sz="3100" dirty="0">
                <a:solidFill>
                  <a:srgbClr val="030303"/>
                </a:solidFill>
                <a:latin typeface="DM Sans Semi Bold" pitchFamily="34" charset="0"/>
                <a:ea typeface="DM Sans Semi Bold" pitchFamily="34" charset="-122"/>
                <a:cs typeface="DM Sans Semi Bold" pitchFamily="34" charset="-120"/>
              </a:rPr>
              <a:t>Target Applications</a:t>
            </a:r>
            <a:endParaRPr lang="en-US" sz="3100" dirty="0"/>
          </a:p>
        </p:txBody>
      </p:sp>
      <p:sp>
        <p:nvSpPr>
          <p:cNvPr id="5" name="Shape 2"/>
          <p:cNvSpPr/>
          <p:nvPr/>
        </p:nvSpPr>
        <p:spPr>
          <a:xfrm>
            <a:off x="6280190" y="1408748"/>
            <a:ext cx="7556421" cy="1435418"/>
          </a:xfrm>
          <a:prstGeom prst="roundRect">
            <a:avLst>
              <a:gd name="adj" fmla="val 1659"/>
            </a:avLst>
          </a:prstGeom>
          <a:solidFill>
            <a:srgbClr val="F2EEEE"/>
          </a:solidFill>
          <a:ln/>
        </p:spPr>
      </p:sp>
      <p:sp>
        <p:nvSpPr>
          <p:cNvPr id="6" name="Shape 3"/>
          <p:cNvSpPr/>
          <p:nvPr/>
        </p:nvSpPr>
        <p:spPr>
          <a:xfrm>
            <a:off x="6438900" y="1567458"/>
            <a:ext cx="476250" cy="476250"/>
          </a:xfrm>
          <a:prstGeom prst="roundRect">
            <a:avLst>
              <a:gd name="adj" fmla="val 19198080"/>
            </a:avLst>
          </a:prstGeom>
          <a:solidFill>
            <a:srgbClr val="1C9770"/>
          </a:solidFill>
          <a:ln/>
        </p:spPr>
      </p:sp>
      <p:pic>
        <p:nvPicPr>
          <p:cNvPr id="7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569869" y="1698427"/>
            <a:ext cx="214313" cy="214312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6438900" y="2154793"/>
            <a:ext cx="1984653" cy="24800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550" dirty="0">
                <a:solidFill>
                  <a:srgbClr val="464646"/>
                </a:solidFill>
                <a:latin typeface="DM Sans Semi Bold" pitchFamily="34" charset="0"/>
                <a:ea typeface="DM Sans Semi Bold" pitchFamily="34" charset="-122"/>
                <a:cs typeface="DM Sans Semi Bold" pitchFamily="34" charset="-120"/>
              </a:rPr>
              <a:t>IoT Devices</a:t>
            </a:r>
            <a:endParaRPr lang="en-US" sz="1550" dirty="0"/>
          </a:p>
        </p:txBody>
      </p:sp>
      <p:sp>
        <p:nvSpPr>
          <p:cNvPr id="9" name="Text 5"/>
          <p:cNvSpPr/>
          <p:nvPr/>
        </p:nvSpPr>
        <p:spPr>
          <a:xfrm>
            <a:off x="6438900" y="2469475"/>
            <a:ext cx="7239000" cy="2159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700"/>
              </a:lnSpc>
              <a:buNone/>
            </a:pPr>
            <a:r>
              <a:rPr lang="en-US" sz="1250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Low-power wireless nodes with long battery life requirements.</a:t>
            </a:r>
            <a:endParaRPr lang="en-US" sz="1250" dirty="0"/>
          </a:p>
        </p:txBody>
      </p:sp>
      <p:sp>
        <p:nvSpPr>
          <p:cNvPr id="10" name="Shape 6"/>
          <p:cNvSpPr/>
          <p:nvPr/>
        </p:nvSpPr>
        <p:spPr>
          <a:xfrm>
            <a:off x="6280190" y="2955250"/>
            <a:ext cx="7556421" cy="1435418"/>
          </a:xfrm>
          <a:prstGeom prst="roundRect">
            <a:avLst>
              <a:gd name="adj" fmla="val 1659"/>
            </a:avLst>
          </a:prstGeom>
          <a:solidFill>
            <a:srgbClr val="F2EEEE"/>
          </a:solidFill>
          <a:ln/>
        </p:spPr>
      </p:sp>
      <p:sp>
        <p:nvSpPr>
          <p:cNvPr id="11" name="Shape 7"/>
          <p:cNvSpPr/>
          <p:nvPr/>
        </p:nvSpPr>
        <p:spPr>
          <a:xfrm>
            <a:off x="6438900" y="3113961"/>
            <a:ext cx="476250" cy="476250"/>
          </a:xfrm>
          <a:prstGeom prst="roundRect">
            <a:avLst>
              <a:gd name="adj" fmla="val 19198080"/>
            </a:avLst>
          </a:prstGeom>
          <a:solidFill>
            <a:srgbClr val="1C9770"/>
          </a:solidFill>
          <a:ln/>
        </p:spPr>
      </p:sp>
      <p:pic>
        <p:nvPicPr>
          <p:cNvPr id="12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6569869" y="3244929"/>
            <a:ext cx="214313" cy="214312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6438900" y="3701296"/>
            <a:ext cx="1984653" cy="24800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550" dirty="0">
                <a:solidFill>
                  <a:srgbClr val="464646"/>
                </a:solidFill>
                <a:latin typeface="DM Sans Semi Bold" pitchFamily="34" charset="0"/>
                <a:ea typeface="DM Sans Semi Bold" pitchFamily="34" charset="-122"/>
                <a:cs typeface="DM Sans Semi Bold" pitchFamily="34" charset="-120"/>
              </a:rPr>
              <a:t>Portable Systems</a:t>
            </a:r>
            <a:endParaRPr lang="en-US" sz="1550" dirty="0"/>
          </a:p>
        </p:txBody>
      </p:sp>
      <p:sp>
        <p:nvSpPr>
          <p:cNvPr id="14" name="Text 9"/>
          <p:cNvSpPr/>
          <p:nvPr/>
        </p:nvSpPr>
        <p:spPr>
          <a:xfrm>
            <a:off x="6438900" y="4015978"/>
            <a:ext cx="7239000" cy="2159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700"/>
              </a:lnSpc>
              <a:buNone/>
            </a:pPr>
            <a:r>
              <a:rPr lang="en-US" sz="1250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Handheld instruments, wearables, and field-deployable hardware.</a:t>
            </a:r>
            <a:endParaRPr lang="en-US" sz="1250" dirty="0"/>
          </a:p>
        </p:txBody>
      </p:sp>
      <p:sp>
        <p:nvSpPr>
          <p:cNvPr id="15" name="Shape 10"/>
          <p:cNvSpPr/>
          <p:nvPr/>
        </p:nvSpPr>
        <p:spPr>
          <a:xfrm>
            <a:off x="6280190" y="4501753"/>
            <a:ext cx="7556421" cy="1435418"/>
          </a:xfrm>
          <a:prstGeom prst="roundRect">
            <a:avLst>
              <a:gd name="adj" fmla="val 1659"/>
            </a:avLst>
          </a:prstGeom>
          <a:solidFill>
            <a:srgbClr val="F2EEEE"/>
          </a:solidFill>
          <a:ln/>
        </p:spPr>
      </p:sp>
      <p:sp>
        <p:nvSpPr>
          <p:cNvPr id="16" name="Shape 11"/>
          <p:cNvSpPr/>
          <p:nvPr/>
        </p:nvSpPr>
        <p:spPr>
          <a:xfrm>
            <a:off x="6438900" y="4660463"/>
            <a:ext cx="476250" cy="476250"/>
          </a:xfrm>
          <a:prstGeom prst="roundRect">
            <a:avLst>
              <a:gd name="adj" fmla="val 19198080"/>
            </a:avLst>
          </a:prstGeom>
          <a:solidFill>
            <a:srgbClr val="1C9770"/>
          </a:solidFill>
          <a:ln/>
        </p:spPr>
      </p:sp>
      <p:pic>
        <p:nvPicPr>
          <p:cNvPr id="17" name="Image 3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6569869" y="4791432"/>
            <a:ext cx="214313" cy="214312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6438900" y="5247799"/>
            <a:ext cx="2774633" cy="24800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550" dirty="0">
                <a:solidFill>
                  <a:srgbClr val="464646"/>
                </a:solidFill>
                <a:latin typeface="DM Sans Semi Bold" pitchFamily="34" charset="0"/>
                <a:ea typeface="DM Sans Semi Bold" pitchFamily="34" charset="-122"/>
                <a:cs typeface="DM Sans Semi Bold" pitchFamily="34" charset="-120"/>
              </a:rPr>
              <a:t>Battery-Powered Electronics</a:t>
            </a:r>
            <a:endParaRPr lang="en-US" sz="1550" dirty="0"/>
          </a:p>
        </p:txBody>
      </p:sp>
      <p:sp>
        <p:nvSpPr>
          <p:cNvPr id="19" name="Text 13"/>
          <p:cNvSpPr/>
          <p:nvPr/>
        </p:nvSpPr>
        <p:spPr>
          <a:xfrm>
            <a:off x="6438900" y="5562481"/>
            <a:ext cx="7239000" cy="2159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700"/>
              </a:lnSpc>
              <a:buNone/>
            </a:pPr>
            <a:r>
              <a:rPr lang="en-US" sz="1250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Any embedded system requiring autonomous operation without wall power.</a:t>
            </a:r>
            <a:endParaRPr lang="en-US" sz="1250" dirty="0"/>
          </a:p>
        </p:txBody>
      </p:sp>
      <p:sp>
        <p:nvSpPr>
          <p:cNvPr id="20" name="Shape 14"/>
          <p:cNvSpPr/>
          <p:nvPr/>
        </p:nvSpPr>
        <p:spPr>
          <a:xfrm>
            <a:off x="6280190" y="6048256"/>
            <a:ext cx="7556421" cy="1435418"/>
          </a:xfrm>
          <a:prstGeom prst="roundRect">
            <a:avLst>
              <a:gd name="adj" fmla="val 1659"/>
            </a:avLst>
          </a:prstGeom>
          <a:solidFill>
            <a:srgbClr val="F2EEEE"/>
          </a:solidFill>
          <a:ln/>
        </p:spPr>
      </p:sp>
      <p:sp>
        <p:nvSpPr>
          <p:cNvPr id="21" name="Shape 15"/>
          <p:cNvSpPr/>
          <p:nvPr/>
        </p:nvSpPr>
        <p:spPr>
          <a:xfrm>
            <a:off x="6438900" y="6206966"/>
            <a:ext cx="476250" cy="476250"/>
          </a:xfrm>
          <a:prstGeom prst="roundRect">
            <a:avLst>
              <a:gd name="adj" fmla="val 19198080"/>
            </a:avLst>
          </a:prstGeom>
          <a:solidFill>
            <a:srgbClr val="1C9770"/>
          </a:solidFill>
          <a:ln/>
        </p:spPr>
      </p:sp>
      <p:pic>
        <p:nvPicPr>
          <p:cNvPr id="22" name="Image 4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6569869" y="6337935"/>
            <a:ext cx="214313" cy="214312"/>
          </a:xfrm>
          <a:prstGeom prst="rect">
            <a:avLst/>
          </a:prstGeom>
        </p:spPr>
      </p:pic>
      <p:sp>
        <p:nvSpPr>
          <p:cNvPr id="23" name="Text 16"/>
          <p:cNvSpPr/>
          <p:nvPr/>
        </p:nvSpPr>
        <p:spPr>
          <a:xfrm>
            <a:off x="6438900" y="6794302"/>
            <a:ext cx="1984653" cy="24800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550" dirty="0">
                <a:solidFill>
                  <a:srgbClr val="464646"/>
                </a:solidFill>
                <a:latin typeface="DM Sans Semi Bold" pitchFamily="34" charset="0"/>
                <a:ea typeface="DM Sans Semi Bold" pitchFamily="34" charset="-122"/>
                <a:cs typeface="DM Sans Semi Bold" pitchFamily="34" charset="-120"/>
              </a:rPr>
              <a:t>Industrial Monitoring</a:t>
            </a:r>
            <a:endParaRPr lang="en-US" sz="1550" dirty="0"/>
          </a:p>
        </p:txBody>
      </p:sp>
      <p:sp>
        <p:nvSpPr>
          <p:cNvPr id="24" name="Text 17"/>
          <p:cNvSpPr/>
          <p:nvPr/>
        </p:nvSpPr>
        <p:spPr>
          <a:xfrm>
            <a:off x="6438900" y="7108984"/>
            <a:ext cx="7239000" cy="2159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700"/>
              </a:lnSpc>
              <a:buNone/>
            </a:pPr>
            <a:r>
              <a:rPr lang="en-US" sz="1250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Remote sensors and data loggers in harsh or inaccessible environments.</a:t>
            </a:r>
            <a:endParaRPr lang="en-US" sz="1250" dirty="0"/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513CF240-CF60-5CA9-EC7E-C03864C0315C}"/>
              </a:ext>
            </a:extLst>
          </p:cNvPr>
          <p:cNvSpPr/>
          <p:nvPr/>
        </p:nvSpPr>
        <p:spPr>
          <a:xfrm>
            <a:off x="12322098" y="7337502"/>
            <a:ext cx="2308302" cy="89209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pic>
        <p:nvPicPr>
          <p:cNvPr id="26" name="Picture 25">
            <a:extLst>
              <a:ext uri="{FF2B5EF4-FFF2-40B4-BE49-F238E27FC236}">
                <a16:creationId xmlns:a16="http://schemas.microsoft.com/office/drawing/2014/main" id="{EC505BC2-64E7-D588-5987-9A9FB2633DF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9296" y="93880"/>
            <a:ext cx="909638" cy="90011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7" name="Picture 2">
            <a:extLst>
              <a:ext uri="{FF2B5EF4-FFF2-40B4-BE49-F238E27FC236}">
                <a16:creationId xmlns:a16="http://schemas.microsoft.com/office/drawing/2014/main" id="{8744AA6B-F162-85A3-7095-F52753C6D5A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559898" y="110233"/>
            <a:ext cx="712788" cy="9144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144000" y="0"/>
            <a:ext cx="5486400" cy="8229600"/>
          </a:xfrm>
          <a:prstGeom prst="rect">
            <a:avLst/>
          </a:prstGeom>
          <a:solidFill>
            <a:srgbClr val="F2EEEE"/>
          </a:solidFill>
          <a:ln/>
        </p:spPr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257348" y="608290"/>
            <a:ext cx="5259586" cy="70129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793790" y="841177"/>
            <a:ext cx="7556421" cy="141755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dirty="0">
                <a:solidFill>
                  <a:srgbClr val="030303"/>
                </a:solidFill>
                <a:latin typeface="DM Sans Semi Bold" pitchFamily="34" charset="0"/>
                <a:ea typeface="DM Sans Semi Bold" pitchFamily="34" charset="-122"/>
                <a:cs typeface="DM Sans Semi Bold" pitchFamily="34" charset="-120"/>
              </a:rPr>
              <a:t>How Dev Boards Handle Power</a:t>
            </a:r>
            <a:endParaRPr lang="en-US" sz="4450" dirty="0"/>
          </a:p>
        </p:txBody>
      </p:sp>
      <p:sp>
        <p:nvSpPr>
          <p:cNvPr id="5" name="Shape 2"/>
          <p:cNvSpPr/>
          <p:nvPr/>
        </p:nvSpPr>
        <p:spPr>
          <a:xfrm>
            <a:off x="793790" y="2598896"/>
            <a:ext cx="510302" cy="510302"/>
          </a:xfrm>
          <a:prstGeom prst="roundRect">
            <a:avLst>
              <a:gd name="adj" fmla="val 6667"/>
            </a:avLst>
          </a:prstGeom>
          <a:solidFill>
            <a:srgbClr val="F2EEEE"/>
          </a:solidFill>
          <a:ln/>
        </p:spPr>
      </p:sp>
      <p:sp>
        <p:nvSpPr>
          <p:cNvPr id="6" name="Text 3"/>
          <p:cNvSpPr/>
          <p:nvPr/>
        </p:nvSpPr>
        <p:spPr>
          <a:xfrm>
            <a:off x="878860" y="2641402"/>
            <a:ext cx="340162" cy="42529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ts val="2650"/>
              </a:lnSpc>
              <a:buNone/>
            </a:pPr>
            <a:r>
              <a:rPr lang="en-US" sz="2650" dirty="0">
                <a:solidFill>
                  <a:srgbClr val="464646"/>
                </a:solidFill>
                <a:latin typeface="DM Sans Semi Bold" pitchFamily="34" charset="0"/>
                <a:ea typeface="DM Sans Semi Bold" pitchFamily="34" charset="-122"/>
                <a:cs typeface="DM Sans Semi Bold" pitchFamily="34" charset="-120"/>
              </a:rPr>
              <a:t>1</a:t>
            </a:r>
            <a:endParaRPr lang="en-US" sz="2650" dirty="0"/>
          </a:p>
        </p:txBody>
      </p:sp>
      <p:sp>
        <p:nvSpPr>
          <p:cNvPr id="7" name="Text 4"/>
          <p:cNvSpPr/>
          <p:nvPr/>
        </p:nvSpPr>
        <p:spPr>
          <a:xfrm>
            <a:off x="1530906" y="2676763"/>
            <a:ext cx="3298508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464646"/>
                </a:solidFill>
                <a:latin typeface="DM Sans Semi Bold" pitchFamily="34" charset="0"/>
                <a:ea typeface="DM Sans Semi Bold" pitchFamily="34" charset="-122"/>
                <a:cs typeface="DM Sans Semi Bold" pitchFamily="34" charset="-120"/>
              </a:rPr>
              <a:t>USB 5V → 3.3V Regulator</a:t>
            </a:r>
            <a:endParaRPr lang="en-US" sz="2200" dirty="0"/>
          </a:p>
        </p:txBody>
      </p:sp>
      <p:sp>
        <p:nvSpPr>
          <p:cNvPr id="8" name="Text 5"/>
          <p:cNvSpPr/>
          <p:nvPr/>
        </p:nvSpPr>
        <p:spPr>
          <a:xfrm>
            <a:off x="1530906" y="3167182"/>
            <a:ext cx="6819305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Onboard LDO provides MCU supply from USB — simple, but USB-tethered.</a:t>
            </a:r>
            <a:endParaRPr lang="en-US" sz="1750" dirty="0"/>
          </a:p>
        </p:txBody>
      </p:sp>
      <p:sp>
        <p:nvSpPr>
          <p:cNvPr id="9" name="Shape 6"/>
          <p:cNvSpPr/>
          <p:nvPr/>
        </p:nvSpPr>
        <p:spPr>
          <a:xfrm>
            <a:off x="793790" y="4346615"/>
            <a:ext cx="510302" cy="510302"/>
          </a:xfrm>
          <a:prstGeom prst="roundRect">
            <a:avLst>
              <a:gd name="adj" fmla="val 6667"/>
            </a:avLst>
          </a:prstGeom>
          <a:solidFill>
            <a:srgbClr val="F2EEEE"/>
          </a:solidFill>
          <a:ln/>
        </p:spPr>
      </p:sp>
      <p:sp>
        <p:nvSpPr>
          <p:cNvPr id="10" name="Text 7"/>
          <p:cNvSpPr/>
          <p:nvPr/>
        </p:nvSpPr>
        <p:spPr>
          <a:xfrm>
            <a:off x="878860" y="4389120"/>
            <a:ext cx="340162" cy="42529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ts val="2650"/>
              </a:lnSpc>
              <a:buNone/>
            </a:pPr>
            <a:r>
              <a:rPr lang="en-US" sz="2650" dirty="0">
                <a:solidFill>
                  <a:srgbClr val="464646"/>
                </a:solidFill>
                <a:latin typeface="DM Sans Semi Bold" pitchFamily="34" charset="0"/>
                <a:ea typeface="DM Sans Semi Bold" pitchFamily="34" charset="-122"/>
                <a:cs typeface="DM Sans Semi Bold" pitchFamily="34" charset="-120"/>
              </a:rPr>
              <a:t>2</a:t>
            </a:r>
            <a:endParaRPr lang="en-US" sz="2650" dirty="0"/>
          </a:p>
        </p:txBody>
      </p:sp>
      <p:sp>
        <p:nvSpPr>
          <p:cNvPr id="11" name="Text 8"/>
          <p:cNvSpPr/>
          <p:nvPr/>
        </p:nvSpPr>
        <p:spPr>
          <a:xfrm>
            <a:off x="1530906" y="4424482"/>
            <a:ext cx="3082528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464646"/>
                </a:solidFill>
                <a:latin typeface="DM Sans Semi Bold" pitchFamily="34" charset="0"/>
                <a:ea typeface="DM Sans Semi Bold" pitchFamily="34" charset="-122"/>
                <a:cs typeface="DM Sans Semi Bold" pitchFamily="34" charset="-120"/>
              </a:rPr>
              <a:t>External 5V Supported</a:t>
            </a:r>
            <a:endParaRPr lang="en-US" sz="2200" dirty="0"/>
          </a:p>
        </p:txBody>
      </p:sp>
      <p:sp>
        <p:nvSpPr>
          <p:cNvPr id="12" name="Text 9"/>
          <p:cNvSpPr/>
          <p:nvPr/>
        </p:nvSpPr>
        <p:spPr>
          <a:xfrm>
            <a:off x="1530906" y="4914900"/>
            <a:ext cx="6819305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Some boards accept external 5V input, but still lack battery management.</a:t>
            </a:r>
            <a:endParaRPr lang="en-US" sz="1750" dirty="0"/>
          </a:p>
        </p:txBody>
      </p:sp>
      <p:sp>
        <p:nvSpPr>
          <p:cNvPr id="13" name="Shape 10"/>
          <p:cNvSpPr/>
          <p:nvPr/>
        </p:nvSpPr>
        <p:spPr>
          <a:xfrm>
            <a:off x="793790" y="6094333"/>
            <a:ext cx="510302" cy="510302"/>
          </a:xfrm>
          <a:prstGeom prst="roundRect">
            <a:avLst>
              <a:gd name="adj" fmla="val 6667"/>
            </a:avLst>
          </a:prstGeom>
          <a:solidFill>
            <a:srgbClr val="F2EEEE"/>
          </a:solidFill>
          <a:ln/>
        </p:spPr>
      </p:sp>
      <p:sp>
        <p:nvSpPr>
          <p:cNvPr id="14" name="Text 11"/>
          <p:cNvSpPr/>
          <p:nvPr/>
        </p:nvSpPr>
        <p:spPr>
          <a:xfrm>
            <a:off x="878860" y="6136838"/>
            <a:ext cx="340162" cy="42529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ts val="2650"/>
              </a:lnSpc>
              <a:buNone/>
            </a:pPr>
            <a:r>
              <a:rPr lang="en-US" sz="2650" dirty="0">
                <a:solidFill>
                  <a:srgbClr val="464646"/>
                </a:solidFill>
                <a:latin typeface="DM Sans Semi Bold" pitchFamily="34" charset="0"/>
                <a:ea typeface="DM Sans Semi Bold" pitchFamily="34" charset="-122"/>
                <a:cs typeface="DM Sans Semi Bold" pitchFamily="34" charset="-120"/>
              </a:rPr>
              <a:t>3</a:t>
            </a:r>
            <a:endParaRPr lang="en-US" sz="2650" dirty="0"/>
          </a:p>
        </p:txBody>
      </p:sp>
      <p:sp>
        <p:nvSpPr>
          <p:cNvPr id="15" name="Text 12"/>
          <p:cNvSpPr/>
          <p:nvPr/>
        </p:nvSpPr>
        <p:spPr>
          <a:xfrm>
            <a:off x="1530906" y="6172200"/>
            <a:ext cx="3851672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464646"/>
                </a:solidFill>
                <a:latin typeface="DM Sans Semi Bold" pitchFamily="34" charset="0"/>
                <a:ea typeface="DM Sans Semi Bold" pitchFamily="34" charset="-122"/>
                <a:cs typeface="DM Sans Semi Bold" pitchFamily="34" charset="-120"/>
              </a:rPr>
              <a:t>No Built-In Battery Charging</a:t>
            </a:r>
            <a:endParaRPr lang="en-US" sz="2200" dirty="0"/>
          </a:p>
        </p:txBody>
      </p:sp>
      <p:sp>
        <p:nvSpPr>
          <p:cNvPr id="16" name="Text 13"/>
          <p:cNvSpPr/>
          <p:nvPr/>
        </p:nvSpPr>
        <p:spPr>
          <a:xfrm>
            <a:off x="1530906" y="6662618"/>
            <a:ext cx="6819305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Li-Ion charging must be handled by an entirely separate module — adding cost, size, and complexity.</a:t>
            </a:r>
            <a:endParaRPr lang="en-US" sz="1750" dirty="0"/>
          </a:p>
        </p:txBody>
      </p:sp>
      <p:pic>
        <p:nvPicPr>
          <p:cNvPr id="17" name="Picture 16">
            <a:extLst>
              <a:ext uri="{FF2B5EF4-FFF2-40B4-BE49-F238E27FC236}">
                <a16:creationId xmlns:a16="http://schemas.microsoft.com/office/drawing/2014/main" id="{52AAF4BB-D0E9-AFB6-D85D-57A1E448A59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9303" y="50959"/>
            <a:ext cx="909638" cy="90011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8" name="Picture 2">
            <a:extLst>
              <a:ext uri="{FF2B5EF4-FFF2-40B4-BE49-F238E27FC236}">
                <a16:creationId xmlns:a16="http://schemas.microsoft.com/office/drawing/2014/main" id="{99E9F5BA-90F2-85C6-882D-7B97BE2A5A8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617951" y="50959"/>
            <a:ext cx="712788" cy="9144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09638" y="627100"/>
            <a:ext cx="7502962" cy="5537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350"/>
              </a:lnSpc>
              <a:buNone/>
            </a:pPr>
            <a:r>
              <a:rPr lang="en-US" sz="3450" dirty="0">
                <a:solidFill>
                  <a:srgbClr val="030303"/>
                </a:solidFill>
                <a:latin typeface="DM Sans Semi Bold" pitchFamily="34" charset="0"/>
                <a:ea typeface="DM Sans Semi Bold" pitchFamily="34" charset="-122"/>
                <a:cs typeface="DM Sans Semi Bold" pitchFamily="34" charset="-120"/>
              </a:rPr>
              <a:t>The Dev Board Battery Workaround</a:t>
            </a:r>
            <a:endParaRPr lang="en-US" sz="345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5323" y="1336477"/>
            <a:ext cx="13279636" cy="5726549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568840" y="5977057"/>
            <a:ext cx="3012735" cy="376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950"/>
              </a:lnSpc>
              <a:buNone/>
            </a:pPr>
            <a:r>
              <a:rPr lang="en-US" sz="2350" dirty="0">
                <a:solidFill>
                  <a:srgbClr val="FFFFFF"/>
                </a:solidFill>
                <a:latin typeface="DM Sans Semi Bold" pitchFamily="34" charset="0"/>
                <a:ea typeface="DM Sans Semi Bold" pitchFamily="34" charset="-122"/>
                <a:cs typeface="DM Sans Semi Bold" pitchFamily="34" charset="-120"/>
              </a:rPr>
              <a:t>Dev Board</a:t>
            </a:r>
            <a:endParaRPr lang="en-US" sz="2350" dirty="0"/>
          </a:p>
        </p:txBody>
      </p:sp>
      <p:sp>
        <p:nvSpPr>
          <p:cNvPr id="5" name="Text 2"/>
          <p:cNvSpPr/>
          <p:nvPr/>
        </p:nvSpPr>
        <p:spPr>
          <a:xfrm>
            <a:off x="1568840" y="4651454"/>
            <a:ext cx="3226974" cy="376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950"/>
              </a:lnSpc>
              <a:buNone/>
            </a:pPr>
            <a:r>
              <a:rPr lang="en-US" sz="2350" dirty="0">
                <a:solidFill>
                  <a:srgbClr val="FFFFFF"/>
                </a:solidFill>
                <a:latin typeface="DM Sans Semi Bold" pitchFamily="34" charset="0"/>
                <a:ea typeface="DM Sans Semi Bold" pitchFamily="34" charset="-122"/>
                <a:cs typeface="DM Sans Semi Bold" pitchFamily="34" charset="-120"/>
              </a:rPr>
              <a:t>Boost/Buck Converter</a:t>
            </a:r>
            <a:endParaRPr lang="en-US" sz="2350" dirty="0"/>
          </a:p>
        </p:txBody>
      </p:sp>
      <p:sp>
        <p:nvSpPr>
          <p:cNvPr id="6" name="Text 3"/>
          <p:cNvSpPr/>
          <p:nvPr/>
        </p:nvSpPr>
        <p:spPr>
          <a:xfrm>
            <a:off x="1568840" y="3339240"/>
            <a:ext cx="3012735" cy="376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950"/>
              </a:lnSpc>
              <a:buNone/>
            </a:pPr>
            <a:r>
              <a:rPr lang="en-US" sz="2350" dirty="0">
                <a:solidFill>
                  <a:srgbClr val="FFFFFF"/>
                </a:solidFill>
                <a:latin typeface="DM Sans Semi Bold" pitchFamily="34" charset="0"/>
                <a:ea typeface="DM Sans Semi Bold" pitchFamily="34" charset="-122"/>
                <a:cs typeface="DM Sans Semi Bold" pitchFamily="34" charset="-120"/>
              </a:rPr>
              <a:t>TP4056 Charger</a:t>
            </a:r>
            <a:endParaRPr lang="en-US" sz="2350" dirty="0"/>
          </a:p>
        </p:txBody>
      </p:sp>
      <p:sp>
        <p:nvSpPr>
          <p:cNvPr id="7" name="Text 4"/>
          <p:cNvSpPr/>
          <p:nvPr/>
        </p:nvSpPr>
        <p:spPr>
          <a:xfrm>
            <a:off x="1568840" y="2013637"/>
            <a:ext cx="3012735" cy="376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950"/>
              </a:lnSpc>
              <a:buNone/>
            </a:pPr>
            <a:r>
              <a:rPr lang="en-US" sz="2350" dirty="0">
                <a:solidFill>
                  <a:srgbClr val="FFFFFF"/>
                </a:solidFill>
                <a:latin typeface="DM Sans Semi Bold" pitchFamily="34" charset="0"/>
                <a:ea typeface="DM Sans Semi Bold" pitchFamily="34" charset="-122"/>
                <a:cs typeface="DM Sans Semi Bold" pitchFamily="34" charset="-120"/>
              </a:rPr>
              <a:t>Battery</a:t>
            </a:r>
            <a:endParaRPr lang="en-US" sz="2350" dirty="0"/>
          </a:p>
        </p:txBody>
      </p:sp>
      <p:sp>
        <p:nvSpPr>
          <p:cNvPr id="8" name="Text 5"/>
          <p:cNvSpPr/>
          <p:nvPr/>
        </p:nvSpPr>
        <p:spPr>
          <a:xfrm>
            <a:off x="620197" y="7218759"/>
            <a:ext cx="13390007" cy="504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350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This multi-module chain is the standard approach for adding battery power to a Nucleo or Discovery board. Each stage introduces efficiency loss, additional wiring, and physical bulk — the opposite of a product-ready design.</a:t>
            </a:r>
            <a:endParaRPr lang="en-US" sz="1350" dirty="0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DDDF3F6A-9A7A-BB0E-F0E9-B16D185EEAE2}"/>
              </a:ext>
            </a:extLst>
          </p:cNvPr>
          <p:cNvSpPr/>
          <p:nvPr/>
        </p:nvSpPr>
        <p:spPr>
          <a:xfrm>
            <a:off x="12322098" y="7605132"/>
            <a:ext cx="2308302" cy="62446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123F2B37-0099-7F4B-5A59-860121D73C6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909638" cy="90011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1" name="Picture 2">
            <a:extLst>
              <a:ext uri="{FF2B5EF4-FFF2-40B4-BE49-F238E27FC236}">
                <a16:creationId xmlns:a16="http://schemas.microsoft.com/office/drawing/2014/main" id="{B760448C-AECB-03C6-DC68-49C1B084BFA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720762" y="48816"/>
            <a:ext cx="712788" cy="9144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16815" y="1105035"/>
            <a:ext cx="8027551" cy="63793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000"/>
              </a:lnSpc>
              <a:buNone/>
            </a:pPr>
            <a:r>
              <a:rPr lang="en-US" sz="4000" dirty="0">
                <a:solidFill>
                  <a:srgbClr val="030303"/>
                </a:solidFill>
                <a:latin typeface="DM Sans Semi Bold" pitchFamily="34" charset="0"/>
                <a:ea typeface="DM Sans Semi Bold" pitchFamily="34" charset="-122"/>
                <a:cs typeface="DM Sans Semi Bold" pitchFamily="34" charset="-120"/>
              </a:rPr>
              <a:t>What Makes This Board Different</a:t>
            </a:r>
            <a:endParaRPr lang="en-US" sz="400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3790" y="2662952"/>
            <a:ext cx="3817025" cy="3817025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5540573" y="1840944"/>
            <a:ext cx="4059912" cy="2798088"/>
          </a:xfrm>
          <a:prstGeom prst="roundRect">
            <a:avLst>
              <a:gd name="adj" fmla="val 1094"/>
            </a:avLst>
          </a:prstGeom>
          <a:solidFill>
            <a:srgbClr val="FFFFFF"/>
          </a:solidFill>
          <a:ln w="22860">
            <a:solidFill>
              <a:srgbClr val="D8D4D4"/>
            </a:solidFill>
            <a:prstDash val="solid"/>
          </a:ln>
        </p:spPr>
      </p:sp>
      <p:sp>
        <p:nvSpPr>
          <p:cNvPr id="5" name="Shape 2"/>
          <p:cNvSpPr/>
          <p:nvPr/>
        </p:nvSpPr>
        <p:spPr>
          <a:xfrm>
            <a:off x="5563433" y="1863804"/>
            <a:ext cx="4014192" cy="612338"/>
          </a:xfrm>
          <a:prstGeom prst="roundRect">
            <a:avLst>
              <a:gd name="adj" fmla="val 521"/>
            </a:avLst>
          </a:prstGeom>
          <a:solidFill>
            <a:srgbClr val="F2EEEE"/>
          </a:solidFill>
          <a:ln/>
        </p:spPr>
      </p:sp>
      <p:sp>
        <p:nvSpPr>
          <p:cNvPr id="6" name="Text 3"/>
          <p:cNvSpPr/>
          <p:nvPr/>
        </p:nvSpPr>
        <p:spPr>
          <a:xfrm>
            <a:off x="5767507" y="2659856"/>
            <a:ext cx="2551748" cy="3188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2000" dirty="0">
                <a:solidFill>
                  <a:srgbClr val="464646"/>
                </a:solidFill>
                <a:latin typeface="DM Sans Semi Bold" pitchFamily="34" charset="0"/>
                <a:ea typeface="DM Sans Semi Bold" pitchFamily="34" charset="-122"/>
                <a:cs typeface="DM Sans Semi Bold" pitchFamily="34" charset="-120"/>
              </a:rPr>
              <a:t>All-in-One Design</a:t>
            </a:r>
            <a:endParaRPr lang="en-US" sz="2000" dirty="0"/>
          </a:p>
        </p:txBody>
      </p:sp>
      <p:sp>
        <p:nvSpPr>
          <p:cNvPr id="7" name="Text 4"/>
          <p:cNvSpPr/>
          <p:nvPr/>
        </p:nvSpPr>
        <p:spPr>
          <a:xfrm>
            <a:off x="5767507" y="3162419"/>
            <a:ext cx="3606046" cy="93083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600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MCU, power regulation, and battery charging on one board — no external modules.</a:t>
            </a:r>
            <a:endParaRPr lang="en-US" sz="1600" dirty="0"/>
          </a:p>
        </p:txBody>
      </p:sp>
      <p:sp>
        <p:nvSpPr>
          <p:cNvPr id="8" name="Shape 5"/>
          <p:cNvSpPr/>
          <p:nvPr/>
        </p:nvSpPr>
        <p:spPr>
          <a:xfrm>
            <a:off x="9784199" y="1840944"/>
            <a:ext cx="4059912" cy="2798088"/>
          </a:xfrm>
          <a:prstGeom prst="roundRect">
            <a:avLst>
              <a:gd name="adj" fmla="val 1094"/>
            </a:avLst>
          </a:prstGeom>
          <a:solidFill>
            <a:srgbClr val="FFFFFF"/>
          </a:solidFill>
          <a:ln w="22860">
            <a:solidFill>
              <a:srgbClr val="D8D4D4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9807059" y="1863804"/>
            <a:ext cx="4014192" cy="612338"/>
          </a:xfrm>
          <a:prstGeom prst="roundRect">
            <a:avLst>
              <a:gd name="adj" fmla="val 521"/>
            </a:avLst>
          </a:prstGeom>
          <a:solidFill>
            <a:srgbClr val="F2EEEE"/>
          </a:solidFill>
          <a:ln/>
        </p:spPr>
      </p:sp>
      <p:sp>
        <p:nvSpPr>
          <p:cNvPr id="10" name="Text 7"/>
          <p:cNvSpPr/>
          <p:nvPr/>
        </p:nvSpPr>
        <p:spPr>
          <a:xfrm>
            <a:off x="10011132" y="2659856"/>
            <a:ext cx="3606046" cy="63769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2000" dirty="0">
                <a:solidFill>
                  <a:srgbClr val="464646"/>
                </a:solidFill>
                <a:latin typeface="DM Sans Semi Bold" pitchFamily="34" charset="0"/>
                <a:ea typeface="DM Sans Semi Bold" pitchFamily="34" charset="-122"/>
                <a:cs typeface="DM Sans Semi Bold" pitchFamily="34" charset="-120"/>
              </a:rPr>
              <a:t>Integrated Battery + Charging</a:t>
            </a:r>
            <a:endParaRPr lang="en-US" sz="2000" dirty="0"/>
          </a:p>
        </p:txBody>
      </p:sp>
      <p:sp>
        <p:nvSpPr>
          <p:cNvPr id="11" name="Text 8"/>
          <p:cNvSpPr/>
          <p:nvPr/>
        </p:nvSpPr>
        <p:spPr>
          <a:xfrm>
            <a:off x="10011132" y="3481268"/>
            <a:ext cx="3606046" cy="93083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600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Li-Ion cell connects directly; charging is handled onboard via USB.</a:t>
            </a:r>
            <a:endParaRPr lang="en-US" sz="1600" dirty="0"/>
          </a:p>
        </p:txBody>
      </p:sp>
      <p:sp>
        <p:nvSpPr>
          <p:cNvPr id="12" name="Shape 9"/>
          <p:cNvSpPr/>
          <p:nvPr/>
        </p:nvSpPr>
        <p:spPr>
          <a:xfrm>
            <a:off x="5540573" y="4822746"/>
            <a:ext cx="4059912" cy="2479238"/>
          </a:xfrm>
          <a:prstGeom prst="roundRect">
            <a:avLst>
              <a:gd name="adj" fmla="val 1235"/>
            </a:avLst>
          </a:prstGeom>
          <a:solidFill>
            <a:srgbClr val="FFFFFF"/>
          </a:solidFill>
          <a:ln w="22860">
            <a:solidFill>
              <a:srgbClr val="D8D4D4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5563433" y="4845606"/>
            <a:ext cx="4014192" cy="612338"/>
          </a:xfrm>
          <a:prstGeom prst="roundRect">
            <a:avLst>
              <a:gd name="adj" fmla="val 521"/>
            </a:avLst>
          </a:prstGeom>
          <a:solidFill>
            <a:srgbClr val="F2EEEE"/>
          </a:solidFill>
          <a:ln/>
        </p:spPr>
      </p:sp>
      <p:sp>
        <p:nvSpPr>
          <p:cNvPr id="14" name="Text 11"/>
          <p:cNvSpPr/>
          <p:nvPr/>
        </p:nvSpPr>
        <p:spPr>
          <a:xfrm>
            <a:off x="5767507" y="5641658"/>
            <a:ext cx="3518178" cy="3188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2000" dirty="0">
                <a:solidFill>
                  <a:srgbClr val="464646"/>
                </a:solidFill>
                <a:latin typeface="DM Sans Semi Bold" pitchFamily="34" charset="0"/>
                <a:ea typeface="DM Sans Semi Bold" pitchFamily="34" charset="-122"/>
                <a:cs typeface="DM Sans Semi Bold" pitchFamily="34" charset="-120"/>
              </a:rPr>
              <a:t>Efficient Power Management</a:t>
            </a:r>
            <a:endParaRPr lang="en-US" sz="2000" dirty="0"/>
          </a:p>
        </p:txBody>
      </p:sp>
      <p:sp>
        <p:nvSpPr>
          <p:cNvPr id="15" name="Text 12"/>
          <p:cNvSpPr/>
          <p:nvPr/>
        </p:nvSpPr>
        <p:spPr>
          <a:xfrm>
            <a:off x="5767507" y="6144220"/>
            <a:ext cx="3606046" cy="62055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600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DC-DC conversion minimizes losses compared to linear regulator chains.</a:t>
            </a:r>
            <a:endParaRPr lang="en-US" sz="1600" dirty="0"/>
          </a:p>
        </p:txBody>
      </p:sp>
      <p:sp>
        <p:nvSpPr>
          <p:cNvPr id="16" name="Shape 13"/>
          <p:cNvSpPr/>
          <p:nvPr/>
        </p:nvSpPr>
        <p:spPr>
          <a:xfrm>
            <a:off x="9784199" y="4822746"/>
            <a:ext cx="4059912" cy="2479238"/>
          </a:xfrm>
          <a:prstGeom prst="roundRect">
            <a:avLst>
              <a:gd name="adj" fmla="val 1235"/>
            </a:avLst>
          </a:prstGeom>
          <a:solidFill>
            <a:srgbClr val="FFFFFF"/>
          </a:solidFill>
          <a:ln w="22860">
            <a:solidFill>
              <a:srgbClr val="D8D4D4"/>
            </a:solidFill>
            <a:prstDash val="solid"/>
          </a:ln>
        </p:spPr>
      </p:sp>
      <p:sp>
        <p:nvSpPr>
          <p:cNvPr id="17" name="Shape 14"/>
          <p:cNvSpPr/>
          <p:nvPr/>
        </p:nvSpPr>
        <p:spPr>
          <a:xfrm>
            <a:off x="9807059" y="4845606"/>
            <a:ext cx="4014192" cy="612338"/>
          </a:xfrm>
          <a:prstGeom prst="roundRect">
            <a:avLst>
              <a:gd name="adj" fmla="val 521"/>
            </a:avLst>
          </a:prstGeom>
          <a:solidFill>
            <a:srgbClr val="F2EEEE"/>
          </a:solidFill>
          <a:ln/>
        </p:spPr>
      </p:sp>
      <p:sp>
        <p:nvSpPr>
          <p:cNvPr id="18" name="Text 15"/>
          <p:cNvSpPr/>
          <p:nvPr/>
        </p:nvSpPr>
        <p:spPr>
          <a:xfrm>
            <a:off x="10011132" y="5641658"/>
            <a:ext cx="2551748" cy="3188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2000" dirty="0">
                <a:solidFill>
                  <a:srgbClr val="464646"/>
                </a:solidFill>
                <a:latin typeface="DM Sans Semi Bold" pitchFamily="34" charset="0"/>
                <a:ea typeface="DM Sans Semi Bold" pitchFamily="34" charset="-122"/>
                <a:cs typeface="DM Sans Semi Bold" pitchFamily="34" charset="-120"/>
              </a:rPr>
              <a:t>Compact &amp; Portable</a:t>
            </a:r>
            <a:endParaRPr lang="en-US" sz="2000" dirty="0"/>
          </a:p>
        </p:txBody>
      </p:sp>
      <p:sp>
        <p:nvSpPr>
          <p:cNvPr id="19" name="Text 16"/>
          <p:cNvSpPr/>
          <p:nvPr/>
        </p:nvSpPr>
        <p:spPr>
          <a:xfrm>
            <a:off x="10011132" y="6144220"/>
            <a:ext cx="3606046" cy="93083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600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2-layer PCB keeps the footprint small enough for product enclosures.</a:t>
            </a:r>
            <a:endParaRPr lang="en-US" sz="1600" dirty="0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46C0853C-B449-FB6B-6F8F-462B13773F11}"/>
              </a:ext>
            </a:extLst>
          </p:cNvPr>
          <p:cNvSpPr/>
          <p:nvPr/>
        </p:nvSpPr>
        <p:spPr>
          <a:xfrm>
            <a:off x="12322098" y="7337502"/>
            <a:ext cx="2308302" cy="89209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pic>
        <p:nvPicPr>
          <p:cNvPr id="21" name="Picture 20">
            <a:extLst>
              <a:ext uri="{FF2B5EF4-FFF2-40B4-BE49-F238E27FC236}">
                <a16:creationId xmlns:a16="http://schemas.microsoft.com/office/drawing/2014/main" id="{EB6BDD25-05D0-9E0B-1143-FC0E2D05376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7177" y="204922"/>
            <a:ext cx="909638" cy="90011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2" name="Picture 2">
            <a:extLst>
              <a:ext uri="{FF2B5EF4-FFF2-40B4-BE49-F238E27FC236}">
                <a16:creationId xmlns:a16="http://schemas.microsoft.com/office/drawing/2014/main" id="{51C187FB-07C9-C054-B9CC-EB6DB418CEC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617178" y="19764"/>
            <a:ext cx="712788" cy="9144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144000" y="0"/>
            <a:ext cx="5486400" cy="8229600"/>
          </a:xfrm>
          <a:prstGeom prst="rect">
            <a:avLst/>
          </a:prstGeom>
          <a:solidFill>
            <a:srgbClr val="F2EEEE"/>
          </a:solidFill>
          <a:ln/>
        </p:spPr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257348" y="608290"/>
            <a:ext cx="5259586" cy="70129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793790" y="1611392"/>
            <a:ext cx="5670590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dirty="0">
                <a:solidFill>
                  <a:srgbClr val="030303"/>
                </a:solidFill>
                <a:latin typeface="DM Sans Semi Bold" pitchFamily="34" charset="0"/>
                <a:ea typeface="DM Sans Semi Bold" pitchFamily="34" charset="-122"/>
                <a:cs typeface="DM Sans Semi Bold" pitchFamily="34" charset="-120"/>
              </a:rPr>
              <a:t>Conclusion</a:t>
            </a:r>
            <a:endParaRPr lang="en-US" sz="4450" dirty="0"/>
          </a:p>
        </p:txBody>
      </p:sp>
      <p:sp>
        <p:nvSpPr>
          <p:cNvPr id="5" name="Text 2"/>
          <p:cNvSpPr/>
          <p:nvPr/>
        </p:nvSpPr>
        <p:spPr>
          <a:xfrm>
            <a:off x="793790" y="2660332"/>
            <a:ext cx="7556421" cy="1088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This custom STM32 board bridges the gap between rapid prototyping and product deployment — delivering an integrated, battery-ready embedded solution in a compact form factor.</a:t>
            </a:r>
            <a:endParaRPr lang="en-US" sz="1750" dirty="0"/>
          </a:p>
        </p:txBody>
      </p:sp>
      <p:sp>
        <p:nvSpPr>
          <p:cNvPr id="6" name="Shape 3"/>
          <p:cNvSpPr/>
          <p:nvPr/>
        </p:nvSpPr>
        <p:spPr>
          <a:xfrm>
            <a:off x="793790" y="4004191"/>
            <a:ext cx="7556421" cy="2613898"/>
          </a:xfrm>
          <a:prstGeom prst="roundRect">
            <a:avLst>
              <a:gd name="adj" fmla="val 1302"/>
            </a:avLst>
          </a:prstGeom>
          <a:solidFill>
            <a:srgbClr val="F2EEEE"/>
          </a:solidFill>
          <a:ln/>
        </p:spPr>
      </p:sp>
      <p:sp>
        <p:nvSpPr>
          <p:cNvPr id="7" name="Shape 4"/>
          <p:cNvSpPr/>
          <p:nvPr/>
        </p:nvSpPr>
        <p:spPr>
          <a:xfrm>
            <a:off x="793790" y="4004191"/>
            <a:ext cx="3778210" cy="1306949"/>
          </a:xfrm>
          <a:prstGeom prst="roundRect">
            <a:avLst>
              <a:gd name="adj" fmla="val 2603"/>
            </a:avLst>
          </a:prstGeom>
          <a:solidFill>
            <a:srgbClr val="F2EEEE"/>
          </a:solidFill>
          <a:ln/>
        </p:spPr>
      </p:sp>
      <p:sp>
        <p:nvSpPr>
          <p:cNvPr id="8" name="Text 5"/>
          <p:cNvSpPr/>
          <p:nvPr/>
        </p:nvSpPr>
        <p:spPr>
          <a:xfrm>
            <a:off x="1020604" y="4231005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464646"/>
                </a:solidFill>
                <a:latin typeface="DM Sans Semi Bold" pitchFamily="34" charset="0"/>
                <a:ea typeface="DM Sans Semi Bold" pitchFamily="34" charset="-122"/>
                <a:cs typeface="DM Sans Semi Bold" pitchFamily="34" charset="-120"/>
              </a:rPr>
              <a:t>Compact</a:t>
            </a:r>
            <a:endParaRPr lang="en-US" sz="2200" dirty="0"/>
          </a:p>
        </p:txBody>
      </p:sp>
      <p:sp>
        <p:nvSpPr>
          <p:cNvPr id="9" name="Text 6"/>
          <p:cNvSpPr/>
          <p:nvPr/>
        </p:nvSpPr>
        <p:spPr>
          <a:xfrm>
            <a:off x="1020604" y="4721423"/>
            <a:ext cx="3324582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2-layer PCB, minimal footprint</a:t>
            </a:r>
            <a:endParaRPr lang="en-US" sz="1750" dirty="0"/>
          </a:p>
        </p:txBody>
      </p:sp>
      <p:sp>
        <p:nvSpPr>
          <p:cNvPr id="10" name="Shape 7"/>
          <p:cNvSpPr/>
          <p:nvPr/>
        </p:nvSpPr>
        <p:spPr>
          <a:xfrm>
            <a:off x="4572000" y="4004191"/>
            <a:ext cx="3778210" cy="1306949"/>
          </a:xfrm>
          <a:prstGeom prst="rect">
            <a:avLst/>
          </a:prstGeom>
          <a:solidFill>
            <a:srgbClr val="F2EEEE"/>
          </a:solidFill>
          <a:ln/>
        </p:spPr>
      </p:sp>
      <p:sp>
        <p:nvSpPr>
          <p:cNvPr id="11" name="Shape 8"/>
          <p:cNvSpPr/>
          <p:nvPr/>
        </p:nvSpPr>
        <p:spPr>
          <a:xfrm>
            <a:off x="4572000" y="4004191"/>
            <a:ext cx="30480" cy="1306949"/>
          </a:xfrm>
          <a:prstGeom prst="roundRect">
            <a:avLst>
              <a:gd name="adj" fmla="val 111628"/>
            </a:avLst>
          </a:prstGeom>
          <a:solidFill>
            <a:srgbClr val="D8D4D4"/>
          </a:solidFill>
          <a:ln/>
        </p:spPr>
      </p:sp>
      <p:sp>
        <p:nvSpPr>
          <p:cNvPr id="12" name="Text 9"/>
          <p:cNvSpPr/>
          <p:nvPr/>
        </p:nvSpPr>
        <p:spPr>
          <a:xfrm>
            <a:off x="4798814" y="4231005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464646"/>
                </a:solidFill>
                <a:latin typeface="DM Sans Semi Bold" pitchFamily="34" charset="0"/>
                <a:ea typeface="DM Sans Semi Bold" pitchFamily="34" charset="-122"/>
                <a:cs typeface="DM Sans Semi Bold" pitchFamily="34" charset="-120"/>
              </a:rPr>
              <a:t>Integrated</a:t>
            </a:r>
            <a:endParaRPr lang="en-US" sz="2200" dirty="0"/>
          </a:p>
        </p:txBody>
      </p:sp>
      <p:sp>
        <p:nvSpPr>
          <p:cNvPr id="13" name="Text 10"/>
          <p:cNvSpPr/>
          <p:nvPr/>
        </p:nvSpPr>
        <p:spPr>
          <a:xfrm>
            <a:off x="4798814" y="4721423"/>
            <a:ext cx="3324582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Power + charging onboard</a:t>
            </a:r>
            <a:endParaRPr lang="en-US" sz="1750" dirty="0"/>
          </a:p>
        </p:txBody>
      </p:sp>
      <p:sp>
        <p:nvSpPr>
          <p:cNvPr id="14" name="Shape 11"/>
          <p:cNvSpPr/>
          <p:nvPr/>
        </p:nvSpPr>
        <p:spPr>
          <a:xfrm>
            <a:off x="793790" y="5311140"/>
            <a:ext cx="7556421" cy="1306949"/>
          </a:xfrm>
          <a:prstGeom prst="rect">
            <a:avLst/>
          </a:prstGeom>
          <a:solidFill>
            <a:srgbClr val="F2EEEE"/>
          </a:solidFill>
          <a:ln/>
        </p:spPr>
      </p:sp>
      <p:sp>
        <p:nvSpPr>
          <p:cNvPr id="15" name="Shape 12"/>
          <p:cNvSpPr/>
          <p:nvPr/>
        </p:nvSpPr>
        <p:spPr>
          <a:xfrm>
            <a:off x="793790" y="5311140"/>
            <a:ext cx="7556421" cy="30480"/>
          </a:xfrm>
          <a:prstGeom prst="roundRect">
            <a:avLst>
              <a:gd name="adj" fmla="val 111628"/>
            </a:avLst>
          </a:prstGeom>
          <a:solidFill>
            <a:srgbClr val="D8D4D4"/>
          </a:solidFill>
          <a:ln/>
        </p:spPr>
      </p:sp>
      <p:sp>
        <p:nvSpPr>
          <p:cNvPr id="16" name="Text 13"/>
          <p:cNvSpPr/>
          <p:nvPr/>
        </p:nvSpPr>
        <p:spPr>
          <a:xfrm>
            <a:off x="1020604" y="5537954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464646"/>
                </a:solidFill>
                <a:latin typeface="DM Sans Semi Bold" pitchFamily="34" charset="0"/>
                <a:ea typeface="DM Sans Semi Bold" pitchFamily="34" charset="-122"/>
                <a:cs typeface="DM Sans Semi Bold" pitchFamily="34" charset="-120"/>
              </a:rPr>
              <a:t>Product-Ready</a:t>
            </a:r>
            <a:endParaRPr lang="en-US" sz="2200" dirty="0"/>
          </a:p>
        </p:txBody>
      </p:sp>
      <p:sp>
        <p:nvSpPr>
          <p:cNvPr id="17" name="Text 14"/>
          <p:cNvSpPr/>
          <p:nvPr/>
        </p:nvSpPr>
        <p:spPr>
          <a:xfrm>
            <a:off x="1020604" y="6028373"/>
            <a:ext cx="7102793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Built for real-world deployment</a:t>
            </a:r>
            <a:endParaRPr lang="en-US" sz="1750" dirty="0"/>
          </a:p>
        </p:txBody>
      </p:sp>
      <p:pic>
        <p:nvPicPr>
          <p:cNvPr id="18" name="Picture 17">
            <a:extLst>
              <a:ext uri="{FF2B5EF4-FFF2-40B4-BE49-F238E27FC236}">
                <a16:creationId xmlns:a16="http://schemas.microsoft.com/office/drawing/2014/main" id="{BEA3A74A-B36A-955F-9D92-D6388BA19EB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3466" y="193178"/>
            <a:ext cx="909638" cy="90011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9" name="Picture 2">
            <a:extLst>
              <a:ext uri="{FF2B5EF4-FFF2-40B4-BE49-F238E27FC236}">
                <a16:creationId xmlns:a16="http://schemas.microsoft.com/office/drawing/2014/main" id="{710B91CF-8AA6-43A1-AC39-43FDB7B9BD1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617951" y="17155"/>
            <a:ext cx="712788" cy="9144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13</TotalTime>
  <Words>609</Words>
  <Application>Microsoft Office PowerPoint</Application>
  <PresentationFormat>Custom</PresentationFormat>
  <Paragraphs>85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6" baseType="lpstr">
      <vt:lpstr>Times New Roman</vt:lpstr>
      <vt:lpstr>Inter Medium</vt:lpstr>
      <vt:lpstr>Arial</vt:lpstr>
      <vt:lpstr>DM Sans Semi Bold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>abhi zz</cp:lastModifiedBy>
  <cp:revision>5</cp:revision>
  <dcterms:created xsi:type="dcterms:W3CDTF">2026-05-04T13:45:33Z</dcterms:created>
  <dcterms:modified xsi:type="dcterms:W3CDTF">2026-05-11T07:41:30Z</dcterms:modified>
</cp:coreProperties>
</file>
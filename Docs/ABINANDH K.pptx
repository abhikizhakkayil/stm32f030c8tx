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6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DM Sans Semi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587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F8DB-6C4F-B2EA-6352-0943FC6C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CB69-8272-4826-3A36-BD39CB7DA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084DF-BBE7-C070-4B80-E19E2DFDC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57C8-3043-9BAB-2E76-B78A4B0D1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1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FB4F3C-D9EC-12C4-417E-1CA966FE37CC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847CFD-9274-24CF-E862-9B69FE0665C0}"/>
              </a:ext>
            </a:extLst>
          </p:cNvPr>
          <p:cNvSpPr txBox="1"/>
          <p:nvPr/>
        </p:nvSpPr>
        <p:spPr>
          <a:xfrm>
            <a:off x="5832088" y="2801027"/>
            <a:ext cx="8216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Compact STM32 Board Overcoming Conventional Dev Kit Limitations through Integrated Li-Ion Power Management, High-Efficiency DC-DC Conversion, and Optimized 2-Layer PCB Architecture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E19C6-9978-6A42-3921-8A5BD677E6D3}"/>
              </a:ext>
            </a:extLst>
          </p:cNvPr>
          <p:cNvSpPr txBox="1"/>
          <p:nvPr/>
        </p:nvSpPr>
        <p:spPr>
          <a:xfrm>
            <a:off x="11422095" y="6122459"/>
            <a:ext cx="4108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ABHINANDH 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[ 192312276 ]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3B255-5EA3-18FA-C347-A4C2A8BD6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835" y="32348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391BE29-DEE3-FAEE-D4A4-BE67760E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4777" y="323483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A93DBB-7290-3A9A-476F-55948381A66B}"/>
              </a:ext>
            </a:extLst>
          </p:cNvPr>
          <p:cNvSpPr txBox="1"/>
          <p:nvPr/>
        </p:nvSpPr>
        <p:spPr>
          <a:xfrm>
            <a:off x="2731022" y="401647"/>
            <a:ext cx="91106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Problem with Conventional Dev Kits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STM32 Nucleo and Discovery boards are excellent for prototyping — but they fall short when it's time to ship a product. Bulky form factors, external power modules, and no battery integration make them impractical for real-world deployment.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A8272F-1A58-DDD2-C5D3-53B34CF5E2BE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00DEA-9BF4-3339-AA49-5527B1552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11" y="15823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72B43EF-2651-A223-84FE-CF4754E8F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0217" y="143946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8D81F-E62D-40BE-B905-9DE45BCE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9B5C1B-A010-5780-F32A-C714F4F4A28C}"/>
              </a:ext>
            </a:extLst>
          </p:cNvPr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FFA4FFE-FA2B-D2FB-75AF-34662C3D7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689B16B-816E-D315-20E2-0A289D185BE9}"/>
              </a:ext>
            </a:extLst>
          </p:cNvPr>
          <p:cNvSpPr/>
          <p:nvPr/>
        </p:nvSpPr>
        <p:spPr>
          <a:xfrm>
            <a:off x="6280190" y="1266944"/>
            <a:ext cx="65271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This Custom Board</a:t>
            </a:r>
            <a:endParaRPr lang="en-US" sz="44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6B4053D-80C6-7FB6-3EF4-7B4F767B9ED4}"/>
              </a:ext>
            </a:extLst>
          </p:cNvPr>
          <p:cNvSpPr/>
          <p:nvPr/>
        </p:nvSpPr>
        <p:spPr>
          <a:xfrm>
            <a:off x="6280190" y="2315885"/>
            <a:ext cx="3664744" cy="2749987"/>
          </a:xfrm>
          <a:prstGeom prst="roundRect">
            <a:avLst>
              <a:gd name="adj" fmla="val 1237"/>
            </a:avLst>
          </a:prstGeom>
          <a:solidFill>
            <a:srgbClr val="F2EEEE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F889DB-9488-6FA7-5CF4-B23D81D94E1D}"/>
              </a:ext>
            </a:extLst>
          </p:cNvPr>
          <p:cNvSpPr/>
          <p:nvPr/>
        </p:nvSpPr>
        <p:spPr>
          <a:xfrm>
            <a:off x="6507004" y="2542699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Integrated System Design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2A03BCD-A67A-0097-94FB-E53657FBCA97}"/>
              </a:ext>
            </a:extLst>
          </p:cNvPr>
          <p:cNvSpPr/>
          <p:nvPr/>
        </p:nvSpPr>
        <p:spPr>
          <a:xfrm>
            <a:off x="6507004" y="3387447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management, battery charging, and MCU all on a single PCB — no external modules required.</a:t>
            </a:r>
            <a:endParaRPr lang="en-US" sz="17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E84EEE7-9BE1-E1B1-78D3-F70858029A5F}"/>
              </a:ext>
            </a:extLst>
          </p:cNvPr>
          <p:cNvSpPr/>
          <p:nvPr/>
        </p:nvSpPr>
        <p:spPr>
          <a:xfrm>
            <a:off x="10171748" y="2315885"/>
            <a:ext cx="3664863" cy="2749987"/>
          </a:xfrm>
          <a:prstGeom prst="roundRect">
            <a:avLst>
              <a:gd name="adj" fmla="val 1237"/>
            </a:avLst>
          </a:prstGeom>
          <a:solidFill>
            <a:srgbClr val="F2EEEE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2CF2866-A72B-7D1E-24EA-45DF7F8CE18A}"/>
              </a:ext>
            </a:extLst>
          </p:cNvPr>
          <p:cNvSpPr/>
          <p:nvPr/>
        </p:nvSpPr>
        <p:spPr>
          <a:xfrm>
            <a:off x="10398562" y="2542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 External Modules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C7B68B-AB2E-1A72-C2F8-43E82527AB17}"/>
              </a:ext>
            </a:extLst>
          </p:cNvPr>
          <p:cNvSpPr/>
          <p:nvPr/>
        </p:nvSpPr>
        <p:spPr>
          <a:xfrm>
            <a:off x="10398562" y="3033117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Eliminates the TP4056, boost converters, and wiring that clutter dev kit setups.</a:t>
            </a:r>
            <a:endParaRPr lang="en-US" sz="17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593BC95-6D68-4ADA-E812-232E8FA9208E}"/>
              </a:ext>
            </a:extLst>
          </p:cNvPr>
          <p:cNvSpPr/>
          <p:nvPr/>
        </p:nvSpPr>
        <p:spPr>
          <a:xfrm>
            <a:off x="6280190" y="5292685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DDE6E7D-FDC4-5F4E-EEA6-D7DE4332C5EA}"/>
              </a:ext>
            </a:extLst>
          </p:cNvPr>
          <p:cNvSpPr/>
          <p:nvPr/>
        </p:nvSpPr>
        <p:spPr>
          <a:xfrm>
            <a:off x="6507004" y="5519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Ready</a:t>
            </a:r>
            <a:endParaRPr lang="en-US" sz="2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592374A-F687-C0E2-BFE1-758CC673E8C2}"/>
              </a:ext>
            </a:extLst>
          </p:cNvPr>
          <p:cNvSpPr/>
          <p:nvPr/>
        </p:nvSpPr>
        <p:spPr>
          <a:xfrm>
            <a:off x="6507004" y="6009918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Designed for deployment, not just evaluation — compact, efficient, and self-contained.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C1D0-197F-2781-0F4C-968C347EBED1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256DBC-9D6A-7328-9D0F-8F158858F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55" y="30730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E178CA6F-9001-0AF5-ABAA-EA45ADFEF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7957" y="12827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146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0108"/>
            <a:ext cx="74591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Features &amp; Advantages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59981" y="2164199"/>
            <a:ext cx="4028599" cy="2538770"/>
          </a:xfrm>
          <a:prstGeom prst="roundRect">
            <a:avLst>
              <a:gd name="adj" fmla="val 5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29501" y="2164199"/>
            <a:ext cx="121920" cy="253877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6" name="Text 3"/>
          <p:cNvSpPr/>
          <p:nvPr/>
        </p:nvSpPr>
        <p:spPr>
          <a:xfrm>
            <a:off x="5908715" y="2421493"/>
            <a:ext cx="30757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Li-Ion Battery Support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08715" y="3002637"/>
            <a:ext cx="34225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Direct battery input with integrated charging circuitry — no separate charger module.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815393" y="2164199"/>
            <a:ext cx="4028718" cy="2538770"/>
          </a:xfrm>
          <a:prstGeom prst="roundRect">
            <a:avLst>
              <a:gd name="adj" fmla="val 5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84913" y="2164199"/>
            <a:ext cx="121920" cy="253877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0" name="Text 7"/>
          <p:cNvSpPr/>
          <p:nvPr/>
        </p:nvSpPr>
        <p:spPr>
          <a:xfrm>
            <a:off x="10164128" y="2421493"/>
            <a:ext cx="3422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DC-DC Power Conversion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64128" y="3356967"/>
            <a:ext cx="3422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Efficient voltage regulation from battery to MCU supply rail.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559981" y="4929783"/>
            <a:ext cx="4028599" cy="218444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29501" y="4929783"/>
            <a:ext cx="121920" cy="218444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4" name="Text 11"/>
          <p:cNvSpPr/>
          <p:nvPr/>
        </p:nvSpPr>
        <p:spPr>
          <a:xfrm>
            <a:off x="5908715" y="5187077"/>
            <a:ext cx="3039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Compact 2-Layer PCB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908715" y="5768221"/>
            <a:ext cx="34225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Minimal board footprint suitable for space-constrained enclosures.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815393" y="4929783"/>
            <a:ext cx="4028718" cy="218444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784913" y="4929783"/>
            <a:ext cx="121920" cy="218444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4128" y="5187077"/>
            <a:ext cx="3378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USB + SWD Programming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164128" y="5768221"/>
            <a:ext cx="3422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 debug interface — no proprietary hardware needed.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E3D315-435F-B3D9-393B-AA784EABE1AF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39928D-0283-5E4B-8100-6D741A02A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3" y="11161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DF2C47D4-1B7B-4311-A049-521C63468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470" y="200977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8324"/>
            <a:ext cx="62424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Trade-offs to Consider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07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design decision involves compromise. Understanding the limitations helps set realistic expectations for this board's use cases.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97168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822150"/>
            <a:ext cx="36408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Less Flexible Than Dev Kits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Fixed pinout and power architecture — not designed for rapid peripheral swapping.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97168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822150"/>
            <a:ext cx="4144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Hardware Debugging is Harder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test points and a denser layout make probe access more challenging.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97168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822150"/>
            <a:ext cx="38525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2-Layer Routing Constraints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and signal routing must be carefully managed without a dedicated ground plane.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B66D86-FC40-6F6C-C057-CA1EA40DD440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76CBC2-8309-D11C-C24A-F8671185C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1" y="232291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98C5B3D4-1EAE-88D8-9E0C-064229C2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8641" y="21800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948" y="1191310"/>
            <a:ext cx="4370070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 Kit vs. Custom Board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08516" y="4126587"/>
            <a:ext cx="6629519" cy="57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When evaluating hardware for a product, the differences between a dev kit and a custom board become critical. This comparison highlights where each approach wins — and where it falls short.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985" y="1097756"/>
            <a:ext cx="6629519" cy="66295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985" y="1097756"/>
            <a:ext cx="6629519" cy="66295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5EC936-FFE6-7D3A-7B42-8E04AC772808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B1328-05FA-2B53-8646-F7497B8CB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29" y="89308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F2A7A5D-6A60-240D-5F69-37278100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2483" y="4512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" y="562927"/>
            <a:ext cx="5327809" cy="71037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45927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Target Applications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280190" y="1408748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6438900" y="1567458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869" y="1698427"/>
            <a:ext cx="214313" cy="214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8900" y="215479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IoT Devices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38900" y="2469475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Low-power wireless nodes with long battery life requirements.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80190" y="2955250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6438900" y="3113961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9869" y="3244929"/>
            <a:ext cx="214313" cy="214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8900" y="370129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Portable Systems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38900" y="4015978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Handheld instruments, wearables, and field-deployable hardware.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80190" y="4501753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6438900" y="4660463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9869" y="4791432"/>
            <a:ext cx="214313" cy="214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38900" y="5247799"/>
            <a:ext cx="277463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Battery-Powered Electronics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438900" y="5562481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Any embedded system requiring autonomous operation without wall power.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80190" y="6048256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6438900" y="6206966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9869" y="6337935"/>
            <a:ext cx="214313" cy="214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38900" y="679430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Industrial Monitoring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438900" y="7108984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Remote sensors and data loggers in harsh or inaccessible environments.</a:t>
            </a:r>
            <a:endParaRPr lang="en-US" sz="12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3CF240-CF60-5CA9-EC7E-C03864C0315C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C505BC2-64E7-D588-5987-9A9FB2633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6" y="9388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8744AA6B-F162-85A3-7095-F52753C6D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9898" y="110233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411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Dev Boards Handle Power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5988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878860" y="2641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2676763"/>
            <a:ext cx="32985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USB 5V → 3.3V Regulator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30906" y="316718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Onboard LDO provides MCU supply from USB — simple, but USB-tethered.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43466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78860" y="43891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530906" y="4424482"/>
            <a:ext cx="3082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External 5V Supported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491490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 boards accept external 5V input, but still lack battery management.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0943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78860" y="6136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530906" y="6172200"/>
            <a:ext cx="3851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 Built-In Battery Charging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30906" y="66626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Li-Ion charging must be handled by an entirely separate module — adding cost, size, and complexity.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AAF4BB-D0E9-AFB6-D85D-57A1E448A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03" y="5095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99E9F5BA-90F2-85C6-882D-7B97BE2A5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951" y="5095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9638" y="627100"/>
            <a:ext cx="7502962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Dev Board Battery Workaround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3" y="1336477"/>
            <a:ext cx="13279636" cy="5726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8840" y="5977057"/>
            <a:ext cx="3012735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 Board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1568840" y="4651454"/>
            <a:ext cx="3226974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Boost/Buck Converter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568840" y="3339240"/>
            <a:ext cx="3012735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TP4056 Charger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1568840" y="2013637"/>
            <a:ext cx="3012735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Battery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620197" y="7218759"/>
            <a:ext cx="1339000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multi-module chain is the standard approach for adding battery power to a Nucleo or Discovery board. Each stage introduces efficiency loss, additional wiring, and physical bulk — the opposite of a product-ready design.</a:t>
            </a:r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DF3F6A-9A7A-BB0E-F0E9-B16D185EEAE2}"/>
              </a:ext>
            </a:extLst>
          </p:cNvPr>
          <p:cNvSpPr/>
          <p:nvPr/>
        </p:nvSpPr>
        <p:spPr>
          <a:xfrm>
            <a:off x="12322098" y="7605132"/>
            <a:ext cx="2308302" cy="6244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3F2B37-0099-7F4B-5A59-860121D73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760448C-AECB-03C6-DC68-49C1B084B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0762" y="48816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815" y="1105035"/>
            <a:ext cx="802755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Makes This Board Different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62952"/>
            <a:ext cx="3817025" cy="38170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40573" y="1840944"/>
            <a:ext cx="4059912" cy="2798088"/>
          </a:xfrm>
          <a:prstGeom prst="roundRect">
            <a:avLst>
              <a:gd name="adj" fmla="val 109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63433" y="1863804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767507" y="265985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All-in-One Design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67507" y="3162419"/>
            <a:ext cx="360604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MCU, power regulation, and battery charging on one board — no external modules.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784199" y="1840944"/>
            <a:ext cx="4059912" cy="2798088"/>
          </a:xfrm>
          <a:prstGeom prst="roundRect">
            <a:avLst>
              <a:gd name="adj" fmla="val 109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07059" y="1863804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10011132" y="2659856"/>
            <a:ext cx="3606046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Integrated Battery + Charging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11132" y="3481268"/>
            <a:ext cx="360604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Li-Ion cell connects directly; charging is handled onboard via USB.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40573" y="4822746"/>
            <a:ext cx="4059912" cy="247923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3433" y="4845606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5767507" y="5641658"/>
            <a:ext cx="351817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Efficient Power Management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7507" y="6144220"/>
            <a:ext cx="360604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DC-DC conversion minimizes losses compared to linear regulator chains.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784199" y="4822746"/>
            <a:ext cx="4059912" cy="247923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07059" y="4845606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10011132" y="564165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Compact &amp; Portable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011132" y="6144220"/>
            <a:ext cx="360604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2-layer PCB keeps the footprint small enough for product enclosures.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C0853C-B449-FB6B-6F8F-462B13773F11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6BDD25-05D0-9E0B-1143-FC0E2D053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7" y="204922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51C187FB-07C9-C054-B9CC-EB6DB418C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178" y="1976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6113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6033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custom STM32 board bridges the gap between rapid prototyping and product deployment — delivering an integrated, battery-ready embedded solution in a compact form factor.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004191"/>
            <a:ext cx="7556421" cy="2613898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4004191"/>
            <a:ext cx="3778210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4231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4721423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2-layer PCB, minimal footprint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4004191"/>
            <a:ext cx="3778210" cy="130694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4004191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9"/>
          <p:cNvSpPr/>
          <p:nvPr/>
        </p:nvSpPr>
        <p:spPr>
          <a:xfrm>
            <a:off x="4798814" y="4231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Integrated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98814" y="4721423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+ charging onboard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311140"/>
            <a:ext cx="7556421" cy="130694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5311140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5537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Product-Ready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602837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for real-world deployment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A3A74A-B36A-955F-9D92-D6388BA19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6" y="193178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710B91CF-8AA6-43A1-AC39-43FDB7B9B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951" y="1715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609</Words>
  <Application>Microsoft Office PowerPoint</Application>
  <PresentationFormat>Custom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Inter Medium</vt:lpstr>
      <vt:lpstr>Arial</vt:lpstr>
      <vt:lpstr>DM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 zz</dc:creator>
  <cp:lastModifiedBy>abhi zz</cp:lastModifiedBy>
  <cp:revision>5</cp:revision>
  <dcterms:created xsi:type="dcterms:W3CDTF">2026-05-04T13:45:33Z</dcterms:created>
  <dcterms:modified xsi:type="dcterms:W3CDTF">2026-05-11T07:41:42Z</dcterms:modified>
</cp:coreProperties>
</file>